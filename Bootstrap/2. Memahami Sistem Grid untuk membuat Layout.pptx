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GB"/>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DCC54B1D-A3D1-4B5E-9AA8-C6EABC1FF5DF}" type="datetimeFigureOut">
              <a:rPr lang="id-ID" smtClean="0"/>
              <a:t>22/10/2024</a:t>
            </a:fld>
            <a:endParaRPr lang="id-ID"/>
          </a:p>
        </p:txBody>
      </p:sp>
      <p:sp>
        <p:nvSpPr>
          <p:cNvPr id="5" name="Footer Placeholder 4"/>
          <p:cNvSpPr>
            <a:spLocks noGrp="1"/>
          </p:cNvSpPr>
          <p:nvPr>
            <p:ph type="ftr" sz="quarter" idx="11"/>
          </p:nvPr>
        </p:nvSpPr>
        <p:spPr>
          <a:xfrm>
            <a:off x="1876424" y="5410201"/>
            <a:ext cx="5124886" cy="365125"/>
          </a:xfrm>
        </p:spPr>
        <p:txBody>
          <a:bodyPr/>
          <a:lstStyle/>
          <a:p>
            <a:endParaRPr lang="id-ID"/>
          </a:p>
        </p:txBody>
      </p:sp>
      <p:sp>
        <p:nvSpPr>
          <p:cNvPr id="6" name="Slide Number Placeholder 5"/>
          <p:cNvSpPr>
            <a:spLocks noGrp="1"/>
          </p:cNvSpPr>
          <p:nvPr>
            <p:ph type="sldNum" sz="quarter" idx="12"/>
          </p:nvPr>
        </p:nvSpPr>
        <p:spPr>
          <a:xfrm>
            <a:off x="9896911" y="5410199"/>
            <a:ext cx="771089" cy="365125"/>
          </a:xfrm>
        </p:spPr>
        <p:txBody>
          <a:bodyPr/>
          <a:lstStyle/>
          <a:p>
            <a:fld id="{B45A074E-CAFE-4521-93F4-0E3B22687C0C}" type="slidenum">
              <a:rPr lang="id-ID" smtClean="0"/>
              <a:t>‹#›</a:t>
            </a:fld>
            <a:endParaRPr lang="id-ID"/>
          </a:p>
        </p:txBody>
      </p:sp>
    </p:spTree>
    <p:extLst>
      <p:ext uri="{BB962C8B-B14F-4D97-AF65-F5344CB8AC3E}">
        <p14:creationId xmlns:p14="http://schemas.microsoft.com/office/powerpoint/2010/main" val="1263939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CC54B1D-A3D1-4B5E-9AA8-C6EABC1FF5DF}" type="datetimeFigureOut">
              <a:rPr lang="id-ID" smtClean="0"/>
              <a:t>22/10/2024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B45A074E-CAFE-4521-93F4-0E3B22687C0C}" type="slidenum">
              <a:rPr lang="id-ID" smtClean="0"/>
              <a:t>‹#›</a:t>
            </a:fld>
            <a:endParaRPr lang="id-ID"/>
          </a:p>
        </p:txBody>
      </p:sp>
    </p:spTree>
    <p:extLst>
      <p:ext uri="{BB962C8B-B14F-4D97-AF65-F5344CB8AC3E}">
        <p14:creationId xmlns:p14="http://schemas.microsoft.com/office/powerpoint/2010/main" val="416601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CC54B1D-A3D1-4B5E-9AA8-C6EABC1FF5DF}" type="datetimeFigureOut">
              <a:rPr lang="id-ID" smtClean="0"/>
              <a:t>22/10/2024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B45A074E-CAFE-4521-93F4-0E3B22687C0C}" type="slidenum">
              <a:rPr lang="id-ID" smtClean="0"/>
              <a:t>‹#›</a:t>
            </a:fld>
            <a:endParaRPr lang="id-ID"/>
          </a:p>
        </p:txBody>
      </p:sp>
    </p:spTree>
    <p:extLst>
      <p:ext uri="{BB962C8B-B14F-4D97-AF65-F5344CB8AC3E}">
        <p14:creationId xmlns:p14="http://schemas.microsoft.com/office/powerpoint/2010/main" val="1194423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CC54B1D-A3D1-4B5E-9AA8-C6EABC1FF5DF}" type="datetimeFigureOut">
              <a:rPr lang="id-ID" smtClean="0"/>
              <a:t>22/10/2024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B45A074E-CAFE-4521-93F4-0E3B22687C0C}" type="slidenum">
              <a:rPr lang="id-ID" smtClean="0"/>
              <a:t>‹#›</a:t>
            </a:fld>
            <a:endParaRPr lang="id-ID"/>
          </a:p>
        </p:txBody>
      </p:sp>
    </p:spTree>
    <p:extLst>
      <p:ext uri="{BB962C8B-B14F-4D97-AF65-F5344CB8AC3E}">
        <p14:creationId xmlns:p14="http://schemas.microsoft.com/office/powerpoint/2010/main" val="234561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GB"/>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CC54B1D-A3D1-4B5E-9AA8-C6EABC1FF5DF}" type="datetimeFigureOut">
              <a:rPr lang="id-ID" smtClean="0"/>
              <a:t>22/10/2024</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B45A074E-CAFE-4521-93F4-0E3B22687C0C}" type="slidenum">
              <a:rPr lang="id-ID" smtClean="0"/>
              <a:t>‹#›</a:t>
            </a:fld>
            <a:endParaRPr lang="id-ID"/>
          </a:p>
        </p:txBody>
      </p:sp>
    </p:spTree>
    <p:extLst>
      <p:ext uri="{BB962C8B-B14F-4D97-AF65-F5344CB8AC3E}">
        <p14:creationId xmlns:p14="http://schemas.microsoft.com/office/powerpoint/2010/main" val="1104677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CC54B1D-A3D1-4B5E-9AA8-C6EABC1FF5DF}" type="datetimeFigureOut">
              <a:rPr lang="id-ID" smtClean="0"/>
              <a:t>22/10/2024</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B45A074E-CAFE-4521-93F4-0E3B22687C0C}" type="slidenum">
              <a:rPr lang="id-ID" smtClean="0"/>
              <a:t>‹#›</a:t>
            </a:fld>
            <a:endParaRPr lang="id-ID"/>
          </a:p>
        </p:txBody>
      </p:sp>
    </p:spTree>
    <p:extLst>
      <p:ext uri="{BB962C8B-B14F-4D97-AF65-F5344CB8AC3E}">
        <p14:creationId xmlns:p14="http://schemas.microsoft.com/office/powerpoint/2010/main" val="3489743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C54B1D-A3D1-4B5E-9AA8-C6EABC1FF5DF}" type="datetimeFigureOut">
              <a:rPr lang="id-ID" smtClean="0"/>
              <a:t>22/10/2024</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B45A074E-CAFE-4521-93F4-0E3B22687C0C}" type="slidenum">
              <a:rPr lang="id-ID" smtClean="0"/>
              <a:t>‹#›</a:t>
            </a:fld>
            <a:endParaRPr lang="id-ID"/>
          </a:p>
        </p:txBody>
      </p:sp>
    </p:spTree>
    <p:extLst>
      <p:ext uri="{BB962C8B-B14F-4D97-AF65-F5344CB8AC3E}">
        <p14:creationId xmlns:p14="http://schemas.microsoft.com/office/powerpoint/2010/main" val="2835372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CC54B1D-A3D1-4B5E-9AA8-C6EABC1FF5DF}" type="datetimeFigureOut">
              <a:rPr lang="id-ID" smtClean="0"/>
              <a:t>22/10/2024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B45A074E-CAFE-4521-93F4-0E3B22687C0C}" type="slidenum">
              <a:rPr lang="id-ID" smtClean="0"/>
              <a:t>‹#›</a:t>
            </a:fld>
            <a:endParaRPr lang="id-ID"/>
          </a:p>
        </p:txBody>
      </p:sp>
    </p:spTree>
    <p:extLst>
      <p:ext uri="{BB962C8B-B14F-4D97-AF65-F5344CB8AC3E}">
        <p14:creationId xmlns:p14="http://schemas.microsoft.com/office/powerpoint/2010/main" val="2109344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CC54B1D-A3D1-4B5E-9AA8-C6EABC1FF5DF}" type="datetimeFigureOut">
              <a:rPr lang="id-ID" smtClean="0"/>
              <a:t>22/10/2024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B45A074E-CAFE-4521-93F4-0E3B22687C0C}" type="slidenum">
              <a:rPr lang="id-ID" smtClean="0"/>
              <a:t>‹#›</a:t>
            </a:fld>
            <a:endParaRPr lang="id-ID"/>
          </a:p>
        </p:txBody>
      </p:sp>
    </p:spTree>
    <p:extLst>
      <p:ext uri="{BB962C8B-B14F-4D97-AF65-F5344CB8AC3E}">
        <p14:creationId xmlns:p14="http://schemas.microsoft.com/office/powerpoint/2010/main" val="1565984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GB"/>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CC54B1D-A3D1-4B5E-9AA8-C6EABC1FF5DF}" type="datetimeFigureOut">
              <a:rPr lang="id-ID" smtClean="0"/>
              <a:t>22/10/2024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B45A074E-CAFE-4521-93F4-0E3B22687C0C}" type="slidenum">
              <a:rPr lang="id-ID" smtClean="0"/>
              <a:t>‹#›</a:t>
            </a:fld>
            <a:endParaRPr lang="id-ID"/>
          </a:p>
        </p:txBody>
      </p:sp>
    </p:spTree>
    <p:extLst>
      <p:ext uri="{BB962C8B-B14F-4D97-AF65-F5344CB8AC3E}">
        <p14:creationId xmlns:p14="http://schemas.microsoft.com/office/powerpoint/2010/main" val="1761618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CC54B1D-A3D1-4B5E-9AA8-C6EABC1FF5DF}" type="datetimeFigureOut">
              <a:rPr lang="id-ID" smtClean="0"/>
              <a:t>22/10/2024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B45A074E-CAFE-4521-93F4-0E3B22687C0C}" type="slidenum">
              <a:rPr lang="id-ID" smtClean="0"/>
              <a:t>‹#›</a:t>
            </a:fld>
            <a:endParaRPr lang="id-ID"/>
          </a:p>
        </p:txBody>
      </p:sp>
    </p:spTree>
    <p:extLst>
      <p:ext uri="{BB962C8B-B14F-4D97-AF65-F5344CB8AC3E}">
        <p14:creationId xmlns:p14="http://schemas.microsoft.com/office/powerpoint/2010/main" val="20759584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CC54B1D-A3D1-4B5E-9AA8-C6EABC1FF5DF}" type="datetimeFigureOut">
              <a:rPr lang="id-ID" smtClean="0"/>
              <a:t>22/10/2024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B45A074E-CAFE-4521-93F4-0E3B22687C0C}" type="slidenum">
              <a:rPr lang="id-ID" smtClean="0"/>
              <a:t>‹#›</a:t>
            </a:fld>
            <a:endParaRPr lang="id-ID"/>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381845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CC54B1D-A3D1-4B5E-9AA8-C6EABC1FF5DF}" type="datetimeFigureOut">
              <a:rPr lang="id-ID" smtClean="0"/>
              <a:t>22/10/2024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B45A074E-CAFE-4521-93F4-0E3B22687C0C}" type="slidenum">
              <a:rPr lang="id-ID" smtClean="0"/>
              <a:t>‹#›</a:t>
            </a:fld>
            <a:endParaRPr lang="id-ID"/>
          </a:p>
        </p:txBody>
      </p:sp>
    </p:spTree>
    <p:extLst>
      <p:ext uri="{BB962C8B-B14F-4D97-AF65-F5344CB8AC3E}">
        <p14:creationId xmlns:p14="http://schemas.microsoft.com/office/powerpoint/2010/main" val="40172103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GB"/>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DCC54B1D-A3D1-4B5E-9AA8-C6EABC1FF5DF}" type="datetimeFigureOut">
              <a:rPr lang="id-ID" smtClean="0"/>
              <a:t>22/10/2024</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B45A074E-CAFE-4521-93F4-0E3B22687C0C}" type="slidenum">
              <a:rPr lang="id-ID" smtClean="0"/>
              <a:t>‹#›</a:t>
            </a:fld>
            <a:endParaRPr lang="id-ID"/>
          </a:p>
        </p:txBody>
      </p:sp>
    </p:spTree>
    <p:extLst>
      <p:ext uri="{BB962C8B-B14F-4D97-AF65-F5344CB8AC3E}">
        <p14:creationId xmlns:p14="http://schemas.microsoft.com/office/powerpoint/2010/main" val="30260793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DCC54B1D-A3D1-4B5E-9AA8-C6EABC1FF5DF}" type="datetimeFigureOut">
              <a:rPr lang="id-ID" smtClean="0"/>
              <a:t>22/10/2024</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B45A074E-CAFE-4521-93F4-0E3B22687C0C}" type="slidenum">
              <a:rPr lang="id-ID" smtClean="0"/>
              <a:t>‹#›</a:t>
            </a:fld>
            <a:endParaRPr lang="id-ID"/>
          </a:p>
        </p:txBody>
      </p:sp>
    </p:spTree>
    <p:extLst>
      <p:ext uri="{BB962C8B-B14F-4D97-AF65-F5344CB8AC3E}">
        <p14:creationId xmlns:p14="http://schemas.microsoft.com/office/powerpoint/2010/main" val="30833180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CC54B1D-A3D1-4B5E-9AA8-C6EABC1FF5DF}" type="datetimeFigureOut">
              <a:rPr lang="id-ID" smtClean="0"/>
              <a:t>22/10/2024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B45A074E-CAFE-4521-93F4-0E3B22687C0C}" type="slidenum">
              <a:rPr lang="id-ID" smtClean="0"/>
              <a:t>‹#›</a:t>
            </a:fld>
            <a:endParaRPr lang="id-ID"/>
          </a:p>
        </p:txBody>
      </p:sp>
    </p:spTree>
    <p:extLst>
      <p:ext uri="{BB962C8B-B14F-4D97-AF65-F5344CB8AC3E}">
        <p14:creationId xmlns:p14="http://schemas.microsoft.com/office/powerpoint/2010/main" val="33979423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CC54B1D-A3D1-4B5E-9AA8-C6EABC1FF5DF}" type="datetimeFigureOut">
              <a:rPr lang="id-ID" smtClean="0"/>
              <a:t>22/10/2024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B45A074E-CAFE-4521-93F4-0E3B22687C0C}" type="slidenum">
              <a:rPr lang="id-ID" smtClean="0"/>
              <a:t>‹#›</a:t>
            </a:fld>
            <a:endParaRPr lang="id-ID"/>
          </a:p>
        </p:txBody>
      </p:sp>
    </p:spTree>
    <p:extLst>
      <p:ext uri="{BB962C8B-B14F-4D97-AF65-F5344CB8AC3E}">
        <p14:creationId xmlns:p14="http://schemas.microsoft.com/office/powerpoint/2010/main" val="801574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CC54B1D-A3D1-4B5E-9AA8-C6EABC1FF5DF}" type="datetimeFigureOut">
              <a:rPr lang="id-ID" smtClean="0"/>
              <a:t>22/10/2024</a:t>
            </a:fld>
            <a:endParaRPr lang="id-ID"/>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45A074E-CAFE-4521-93F4-0E3B22687C0C}" type="slidenum">
              <a:rPr lang="id-ID" smtClean="0"/>
              <a:t>‹#›</a:t>
            </a:fld>
            <a:endParaRPr lang="id-ID"/>
          </a:p>
        </p:txBody>
      </p:sp>
    </p:spTree>
    <p:extLst>
      <p:ext uri="{BB962C8B-B14F-4D97-AF65-F5344CB8AC3E}">
        <p14:creationId xmlns:p14="http://schemas.microsoft.com/office/powerpoint/2010/main" val="414200967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102E0-7741-42AB-9E94-E2AA36F3D5CA}"/>
              </a:ext>
            </a:extLst>
          </p:cNvPr>
          <p:cNvSpPr>
            <a:spLocks noGrp="1"/>
          </p:cNvSpPr>
          <p:nvPr>
            <p:ph type="ctrTitle"/>
          </p:nvPr>
        </p:nvSpPr>
        <p:spPr>
          <a:xfrm>
            <a:off x="1700212" y="2664964"/>
            <a:ext cx="8791575" cy="1528072"/>
          </a:xfrm>
        </p:spPr>
        <p:txBody>
          <a:bodyPr/>
          <a:lstStyle/>
          <a:p>
            <a:pPr algn="l"/>
            <a:r>
              <a:rPr lang="id-ID" dirty="0">
                <a:latin typeface="JetBrains Mono" panose="02000009000000000000" pitchFamily="49" charset="0"/>
                <a:cs typeface="JetBrains Mono" panose="02000009000000000000" pitchFamily="49" charset="0"/>
              </a:rPr>
              <a:t>Memahami Sistem Grid untuk membuat Layout</a:t>
            </a:r>
          </a:p>
        </p:txBody>
      </p:sp>
    </p:spTree>
    <p:extLst>
      <p:ext uri="{BB962C8B-B14F-4D97-AF65-F5344CB8AC3E}">
        <p14:creationId xmlns:p14="http://schemas.microsoft.com/office/powerpoint/2010/main" val="1264850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5E9740-BFD4-44E4-A2C8-838AA5074056}"/>
              </a:ext>
            </a:extLst>
          </p:cNvPr>
          <p:cNvSpPr>
            <a:spLocks noGrp="1"/>
          </p:cNvSpPr>
          <p:nvPr>
            <p:ph idx="1"/>
          </p:nvPr>
        </p:nvSpPr>
        <p:spPr>
          <a:xfrm>
            <a:off x="1141412" y="742122"/>
            <a:ext cx="9905999" cy="5049079"/>
          </a:xfrm>
        </p:spPr>
        <p:txBody>
          <a:bodyPr/>
          <a:lstStyle/>
          <a:p>
            <a:pPr marL="0" indent="0" algn="just">
              <a:buNone/>
            </a:pPr>
            <a:r>
              <a:rPr lang="id-ID" dirty="0">
                <a:latin typeface="JetBrains Mono" panose="02000009000000000000" pitchFamily="49" charset="0"/>
                <a:cs typeface="JetBrains Mono" panose="02000009000000000000" pitchFamily="49" charset="0"/>
              </a:rPr>
              <a:t>Bagian terpenting yang harus dipahami pada Bootstrap adalah sistem grid. Saya yakin, jika kamu memahami sistem grid.. kamu akan bisa membuat layout web dengan mudah dan bagaimanapun bentuknya. Pada pembelajaran kali ini, kita akan belajar tentang pengertian sistem grid, class-class untuk membuat sistem grid, dan latihan menggunakan sistem grid untuk membuat beberapa macam layout web.</a:t>
            </a:r>
          </a:p>
          <a:p>
            <a:pPr marL="0" indent="0" algn="just">
              <a:buNone/>
            </a:pPr>
            <a:r>
              <a:rPr lang="id-ID" dirty="0">
                <a:latin typeface="JetBrains Mono" panose="02000009000000000000" pitchFamily="49" charset="0"/>
                <a:cs typeface="JetBrains Mono" panose="02000009000000000000" pitchFamily="49" charset="0"/>
              </a:rPr>
              <a:t>Sudah siap?</a:t>
            </a:r>
          </a:p>
          <a:p>
            <a:pPr marL="0" indent="0" algn="just">
              <a:buNone/>
            </a:pPr>
            <a:r>
              <a:rPr lang="id-ID" dirty="0">
                <a:latin typeface="JetBrains Mono" panose="02000009000000000000" pitchFamily="49" charset="0"/>
                <a:cs typeface="JetBrains Mono" panose="02000009000000000000" pitchFamily="49" charset="0"/>
              </a:rPr>
              <a:t>Ayo kita mulai!</a:t>
            </a:r>
          </a:p>
        </p:txBody>
      </p:sp>
    </p:spTree>
    <p:extLst>
      <p:ext uri="{BB962C8B-B14F-4D97-AF65-F5344CB8AC3E}">
        <p14:creationId xmlns:p14="http://schemas.microsoft.com/office/powerpoint/2010/main" val="166278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AF426-A564-4C78-829D-7046263B082B}"/>
              </a:ext>
            </a:extLst>
          </p:cNvPr>
          <p:cNvSpPr>
            <a:spLocks noGrp="1"/>
          </p:cNvSpPr>
          <p:nvPr>
            <p:ph type="title"/>
          </p:nvPr>
        </p:nvSpPr>
        <p:spPr/>
        <p:txBody>
          <a:bodyPr/>
          <a:lstStyle/>
          <a:p>
            <a:r>
              <a:rPr lang="id-ID" dirty="0">
                <a:latin typeface="JetBrains Mono" panose="02000009000000000000" pitchFamily="49" charset="0"/>
                <a:cs typeface="JetBrains Mono" panose="02000009000000000000" pitchFamily="49" charset="0"/>
              </a:rPr>
              <a:t>Apa itu Sistem Grid di Bootstrap?</a:t>
            </a:r>
          </a:p>
        </p:txBody>
      </p:sp>
      <p:sp>
        <p:nvSpPr>
          <p:cNvPr id="3" name="Content Placeholder 2">
            <a:extLst>
              <a:ext uri="{FF2B5EF4-FFF2-40B4-BE49-F238E27FC236}">
                <a16:creationId xmlns:a16="http://schemas.microsoft.com/office/drawing/2014/main" id="{A3BC9912-76BF-4A9C-93DF-87C698912F2E}"/>
              </a:ext>
            </a:extLst>
          </p:cNvPr>
          <p:cNvSpPr>
            <a:spLocks noGrp="1"/>
          </p:cNvSpPr>
          <p:nvPr>
            <p:ph idx="1"/>
          </p:nvPr>
        </p:nvSpPr>
        <p:spPr/>
        <p:txBody>
          <a:bodyPr>
            <a:normAutofit fontScale="92500"/>
          </a:bodyPr>
          <a:lstStyle/>
          <a:p>
            <a:pPr marL="0" indent="0" algn="just">
              <a:buNone/>
            </a:pPr>
            <a:r>
              <a:rPr lang="id-ID" dirty="0">
                <a:latin typeface="JetBrains Mono" panose="02000009000000000000" pitchFamily="49" charset="0"/>
                <a:cs typeface="JetBrains Mono" panose="02000009000000000000" pitchFamily="49" charset="0"/>
              </a:rPr>
              <a:t>Sistem Grid adalah sistem yang digunakan Bootstrap untuk mengatur tata letak (layout). Sistem ini terdiri dari 12 kolom dan 6 breakpoint.</a:t>
            </a:r>
            <a:endParaRPr lang="en-US" dirty="0">
              <a:latin typeface="JetBrains Mono" panose="02000009000000000000" pitchFamily="49" charset="0"/>
              <a:cs typeface="JetBrains Mono" panose="02000009000000000000" pitchFamily="49" charset="0"/>
            </a:endParaRPr>
          </a:p>
          <a:p>
            <a:pPr marL="0" indent="0" algn="just">
              <a:buNone/>
            </a:pPr>
            <a:r>
              <a:rPr lang="id-ID" dirty="0">
                <a:latin typeface="JetBrains Mono" panose="02000009000000000000" pitchFamily="49" charset="0"/>
                <a:cs typeface="JetBrains Mono" panose="02000009000000000000" pitchFamily="49" charset="0"/>
              </a:rPr>
              <a:t>Satu kolom penuh panjangnya adalah 12. Jika kolom dibagi dua maka panjangnya akan menjadi 6. Jika dibagi lagi, maka panjang kolomnya akan semakin kecil, hingga yang paling kecil adalah 1. Ini artinya, kolom pada grid hanya bisa dibagi sampai 12 saja.</a:t>
            </a:r>
          </a:p>
        </p:txBody>
      </p:sp>
    </p:spTree>
    <p:extLst>
      <p:ext uri="{BB962C8B-B14F-4D97-AF65-F5344CB8AC3E}">
        <p14:creationId xmlns:p14="http://schemas.microsoft.com/office/powerpoint/2010/main" val="3433210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AEFB5C2-3EE1-40C8-930C-35966CDC6C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9750" y="1022488"/>
            <a:ext cx="8572500" cy="2867025"/>
          </a:xfrm>
        </p:spPr>
      </p:pic>
      <p:sp>
        <p:nvSpPr>
          <p:cNvPr id="6" name="TextBox 5">
            <a:extLst>
              <a:ext uri="{FF2B5EF4-FFF2-40B4-BE49-F238E27FC236}">
                <a16:creationId xmlns:a16="http://schemas.microsoft.com/office/drawing/2014/main" id="{0F23397A-E09B-449B-87A2-F59493506AFE}"/>
              </a:ext>
            </a:extLst>
          </p:cNvPr>
          <p:cNvSpPr txBox="1"/>
          <p:nvPr/>
        </p:nvSpPr>
        <p:spPr>
          <a:xfrm>
            <a:off x="1809750" y="4161183"/>
            <a:ext cx="8572500" cy="1446550"/>
          </a:xfrm>
          <a:prstGeom prst="rect">
            <a:avLst/>
          </a:prstGeom>
          <a:noFill/>
        </p:spPr>
        <p:txBody>
          <a:bodyPr wrap="square" rtlCol="0">
            <a:spAutoFit/>
          </a:bodyPr>
          <a:lstStyle/>
          <a:p>
            <a:pPr algn="just"/>
            <a:r>
              <a:rPr lang="id-ID" sz="2200" dirty="0">
                <a:latin typeface="JetBrains Mono" panose="02000009000000000000" pitchFamily="49" charset="0"/>
                <a:cs typeface="JetBrains Mono" panose="02000009000000000000" pitchFamily="49" charset="0"/>
              </a:rPr>
              <a:t>Selain untuk menentukan tata letak, Grid juga berfungsi sebagai guide line bagi desainer. Sehingga nanti akan membuat desain lebih mudah diterapkan ke dalam kode.</a:t>
            </a:r>
          </a:p>
        </p:txBody>
      </p:sp>
    </p:spTree>
    <p:extLst>
      <p:ext uri="{BB962C8B-B14F-4D97-AF65-F5344CB8AC3E}">
        <p14:creationId xmlns:p14="http://schemas.microsoft.com/office/powerpoint/2010/main" val="2585120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DE79F-DB6D-4CF8-8149-92E22C5F71D7}"/>
              </a:ext>
            </a:extLst>
          </p:cNvPr>
          <p:cNvSpPr>
            <a:spLocks noGrp="1"/>
          </p:cNvSpPr>
          <p:nvPr>
            <p:ph type="title"/>
          </p:nvPr>
        </p:nvSpPr>
        <p:spPr/>
        <p:txBody>
          <a:bodyPr/>
          <a:lstStyle/>
          <a:p>
            <a:r>
              <a:rPr lang="en-US" dirty="0" err="1">
                <a:latin typeface="JetBrains Mono" panose="02000009000000000000" pitchFamily="49" charset="0"/>
                <a:cs typeface="JetBrains Mono" panose="02000009000000000000" pitchFamily="49" charset="0"/>
              </a:rPr>
              <a:t>Memahami</a:t>
            </a:r>
            <a:r>
              <a:rPr lang="en-US" dirty="0">
                <a:latin typeface="JetBrains Mono" panose="02000009000000000000" pitchFamily="49" charset="0"/>
                <a:cs typeface="JetBrains Mono" panose="02000009000000000000" pitchFamily="49" charset="0"/>
              </a:rPr>
              <a:t> breakpoint</a:t>
            </a:r>
            <a:endParaRPr lang="id-ID" dirty="0">
              <a:latin typeface="JetBrains Mono" panose="02000009000000000000" pitchFamily="49" charset="0"/>
              <a:cs typeface="JetBrains Mono" panose="02000009000000000000" pitchFamily="49" charset="0"/>
            </a:endParaRPr>
          </a:p>
        </p:txBody>
      </p:sp>
      <p:sp>
        <p:nvSpPr>
          <p:cNvPr id="3" name="Content Placeholder 2">
            <a:extLst>
              <a:ext uri="{FF2B5EF4-FFF2-40B4-BE49-F238E27FC236}">
                <a16:creationId xmlns:a16="http://schemas.microsoft.com/office/drawing/2014/main" id="{52DD3B86-82AB-4D24-9E30-73343C5C74A6}"/>
              </a:ext>
            </a:extLst>
          </p:cNvPr>
          <p:cNvSpPr>
            <a:spLocks noGrp="1"/>
          </p:cNvSpPr>
          <p:nvPr>
            <p:ph idx="1"/>
          </p:nvPr>
        </p:nvSpPr>
        <p:spPr/>
        <p:txBody>
          <a:bodyPr>
            <a:normAutofit/>
          </a:bodyPr>
          <a:lstStyle/>
          <a:p>
            <a:pPr marL="0" indent="0">
              <a:buNone/>
            </a:pPr>
            <a:r>
              <a:rPr lang="id-ID" sz="2200" dirty="0">
                <a:latin typeface="JetBrains Mono" panose="02000009000000000000" pitchFamily="49" charset="0"/>
                <a:cs typeface="JetBrains Mono" panose="02000009000000000000" pitchFamily="49" charset="0"/>
              </a:rPr>
              <a:t>Breakpoint adalah ukuran lebar yang menentukan tampilan responsif terhadap ukuran viewport perangkat tertentu. Saat ini Bootstrap memiliki 6 ukuran Breakpoint, yakni </a:t>
            </a:r>
            <a:r>
              <a:rPr lang="id-ID" sz="2200" dirty="0">
                <a:solidFill>
                  <a:srgbClr val="FF0000"/>
                </a:solidFill>
                <a:latin typeface="JetBrains Mono" panose="02000009000000000000" pitchFamily="49" charset="0"/>
                <a:cs typeface="JetBrains Mono" panose="02000009000000000000" pitchFamily="49" charset="0"/>
              </a:rPr>
              <a:t>none</a:t>
            </a:r>
            <a:r>
              <a:rPr lang="id-ID" sz="2200" dirty="0">
                <a:latin typeface="JetBrains Mono" panose="02000009000000000000" pitchFamily="49" charset="0"/>
                <a:cs typeface="JetBrains Mono" panose="02000009000000000000" pitchFamily="49" charset="0"/>
              </a:rPr>
              <a:t>, </a:t>
            </a:r>
            <a:r>
              <a:rPr lang="id-ID" sz="2200" dirty="0">
                <a:solidFill>
                  <a:srgbClr val="FF0000"/>
                </a:solidFill>
                <a:latin typeface="JetBrains Mono" panose="02000009000000000000" pitchFamily="49" charset="0"/>
                <a:cs typeface="JetBrains Mono" panose="02000009000000000000" pitchFamily="49" charset="0"/>
              </a:rPr>
              <a:t>sm</a:t>
            </a:r>
            <a:r>
              <a:rPr lang="id-ID" sz="2200" dirty="0">
                <a:latin typeface="JetBrains Mono" panose="02000009000000000000" pitchFamily="49" charset="0"/>
                <a:cs typeface="JetBrains Mono" panose="02000009000000000000" pitchFamily="49" charset="0"/>
              </a:rPr>
              <a:t>, </a:t>
            </a:r>
            <a:r>
              <a:rPr lang="id-ID" sz="2200" dirty="0">
                <a:solidFill>
                  <a:srgbClr val="FF0000"/>
                </a:solidFill>
                <a:latin typeface="JetBrains Mono" panose="02000009000000000000" pitchFamily="49" charset="0"/>
                <a:cs typeface="JetBrains Mono" panose="02000009000000000000" pitchFamily="49" charset="0"/>
              </a:rPr>
              <a:t>md</a:t>
            </a:r>
            <a:r>
              <a:rPr lang="id-ID" sz="2200" dirty="0">
                <a:latin typeface="JetBrains Mono" panose="02000009000000000000" pitchFamily="49" charset="0"/>
                <a:cs typeface="JetBrains Mono" panose="02000009000000000000" pitchFamily="49" charset="0"/>
              </a:rPr>
              <a:t>, </a:t>
            </a:r>
            <a:r>
              <a:rPr lang="id-ID" sz="2200" dirty="0">
                <a:solidFill>
                  <a:srgbClr val="FF0000"/>
                </a:solidFill>
                <a:latin typeface="JetBrains Mono" panose="02000009000000000000" pitchFamily="49" charset="0"/>
                <a:cs typeface="JetBrains Mono" panose="02000009000000000000" pitchFamily="49" charset="0"/>
              </a:rPr>
              <a:t>lg</a:t>
            </a:r>
            <a:r>
              <a:rPr lang="id-ID" sz="2200" dirty="0">
                <a:latin typeface="JetBrains Mono" panose="02000009000000000000" pitchFamily="49" charset="0"/>
                <a:cs typeface="JetBrains Mono" panose="02000009000000000000" pitchFamily="49" charset="0"/>
              </a:rPr>
              <a:t>, </a:t>
            </a:r>
            <a:r>
              <a:rPr lang="id-ID" sz="2200" dirty="0">
                <a:solidFill>
                  <a:srgbClr val="FF0000"/>
                </a:solidFill>
                <a:latin typeface="JetBrains Mono" panose="02000009000000000000" pitchFamily="49" charset="0"/>
                <a:cs typeface="JetBrains Mono" panose="02000009000000000000" pitchFamily="49" charset="0"/>
              </a:rPr>
              <a:t>xl</a:t>
            </a:r>
            <a:r>
              <a:rPr lang="id-ID" sz="2200" dirty="0">
                <a:latin typeface="JetBrains Mono" panose="02000009000000000000" pitchFamily="49" charset="0"/>
                <a:cs typeface="JetBrains Mono" panose="02000009000000000000" pitchFamily="49" charset="0"/>
              </a:rPr>
              <a:t>, dan </a:t>
            </a:r>
            <a:r>
              <a:rPr lang="id-ID" sz="2200" dirty="0">
                <a:solidFill>
                  <a:srgbClr val="FF0000"/>
                </a:solidFill>
                <a:latin typeface="JetBrains Mono" panose="02000009000000000000" pitchFamily="49" charset="0"/>
                <a:cs typeface="JetBrains Mono" panose="02000009000000000000" pitchFamily="49" charset="0"/>
              </a:rPr>
              <a:t>xxl</a:t>
            </a:r>
            <a:r>
              <a:rPr lang="id-ID" sz="2200" dirty="0">
                <a:latin typeface="JetBrains Mono" panose="02000009000000000000" pitchFamily="49" charset="0"/>
                <a:cs typeface="JetBrains Mono" panose="02000009000000000000" pitchFamily="49" charset="0"/>
              </a:rPr>
              <a:t>.</a:t>
            </a:r>
          </a:p>
        </p:txBody>
      </p:sp>
    </p:spTree>
    <p:extLst>
      <p:ext uri="{BB962C8B-B14F-4D97-AF65-F5344CB8AC3E}">
        <p14:creationId xmlns:p14="http://schemas.microsoft.com/office/powerpoint/2010/main" val="4240292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FBDC8-D7EF-45E8-942E-6788B32350B9}"/>
              </a:ext>
            </a:extLst>
          </p:cNvPr>
          <p:cNvSpPr>
            <a:spLocks noGrp="1"/>
          </p:cNvSpPr>
          <p:nvPr>
            <p:ph type="title"/>
          </p:nvPr>
        </p:nvSpPr>
        <p:spPr/>
        <p:txBody>
          <a:bodyPr/>
          <a:lstStyle/>
          <a:p>
            <a:r>
              <a:rPr lang="id-ID" sz="3600" dirty="0">
                <a:latin typeface="JetBrains Mono" panose="02000009000000000000" pitchFamily="49" charset="0"/>
                <a:cs typeface="JetBrains Mono" panose="02000009000000000000" pitchFamily="49" charset="0"/>
              </a:rPr>
              <a:t>Perhatikan gambar berikut</a:t>
            </a:r>
            <a:endParaRPr lang="id-ID" dirty="0"/>
          </a:p>
        </p:txBody>
      </p:sp>
      <p:pic>
        <p:nvPicPr>
          <p:cNvPr id="5" name="Content Placeholder 4">
            <a:extLst>
              <a:ext uri="{FF2B5EF4-FFF2-40B4-BE49-F238E27FC236}">
                <a16:creationId xmlns:a16="http://schemas.microsoft.com/office/drawing/2014/main" id="{5422CD7C-644E-4DCC-AE3E-533997194D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67206" y="2097088"/>
            <a:ext cx="8254412" cy="4336842"/>
          </a:xfrm>
        </p:spPr>
      </p:pic>
    </p:spTree>
    <p:extLst>
      <p:ext uri="{BB962C8B-B14F-4D97-AF65-F5344CB8AC3E}">
        <p14:creationId xmlns:p14="http://schemas.microsoft.com/office/powerpoint/2010/main" val="3725100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AA0BD2-ABA1-44DA-AF2D-D88EF2D7B53C}"/>
              </a:ext>
            </a:extLst>
          </p:cNvPr>
          <p:cNvSpPr>
            <a:spLocks noGrp="1"/>
          </p:cNvSpPr>
          <p:nvPr>
            <p:ph idx="1"/>
          </p:nvPr>
        </p:nvSpPr>
        <p:spPr>
          <a:xfrm>
            <a:off x="1143000" y="1658143"/>
            <a:ext cx="9905999" cy="3541714"/>
          </a:xfrm>
        </p:spPr>
        <p:txBody>
          <a:bodyPr>
            <a:normAutofit fontScale="85000" lnSpcReduction="10000"/>
          </a:bodyPr>
          <a:lstStyle/>
          <a:p>
            <a:pPr marL="0" indent="0" algn="just">
              <a:buNone/>
            </a:pPr>
            <a:r>
              <a:rPr lang="id-ID" sz="3200" dirty="0">
                <a:solidFill>
                  <a:srgbClr val="FF0000"/>
                </a:solidFill>
                <a:latin typeface="JetBrains Mono" panose="02000009000000000000" pitchFamily="49" charset="0"/>
                <a:cs typeface="JetBrains Mono" panose="02000009000000000000" pitchFamily="49" charset="0"/>
              </a:rPr>
              <a:t>Perlu diingat bahwa Bootstrap adalah framework yang menggunakan pendekatan mobile first, jadi kita harus memikirkan tampilan di mobile terlebih dahulu sebelum membuat tampilan untuk desktop. </a:t>
            </a:r>
            <a:r>
              <a:rPr lang="id-ID" sz="3200" dirty="0">
                <a:latin typeface="JetBrains Mono" panose="02000009000000000000" pitchFamily="49" charset="0"/>
                <a:cs typeface="JetBrains Mono" panose="02000009000000000000" pitchFamily="49" charset="0"/>
              </a:rPr>
              <a:t>Karena itu, nilai default breakpoint adalah none. Ukuran ini adalah ukuran yang paling kecil, yakni sekitar 576px.</a:t>
            </a:r>
          </a:p>
        </p:txBody>
      </p:sp>
    </p:spTree>
    <p:extLst>
      <p:ext uri="{BB962C8B-B14F-4D97-AF65-F5344CB8AC3E}">
        <p14:creationId xmlns:p14="http://schemas.microsoft.com/office/powerpoint/2010/main" val="1567583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F65A8-FAA1-47E5-A9DA-1ED5973CCD6D}"/>
              </a:ext>
            </a:extLst>
          </p:cNvPr>
          <p:cNvSpPr>
            <a:spLocks noGrp="1"/>
          </p:cNvSpPr>
          <p:nvPr>
            <p:ph type="title"/>
          </p:nvPr>
        </p:nvSpPr>
        <p:spPr/>
        <p:txBody>
          <a:bodyPr/>
          <a:lstStyle/>
          <a:p>
            <a:r>
              <a:rPr lang="en-US" dirty="0" err="1">
                <a:latin typeface="JetBrains Mono" panose="02000009000000000000" pitchFamily="49" charset="0"/>
                <a:cs typeface="JetBrains Mono" panose="02000009000000000000" pitchFamily="49" charset="0"/>
              </a:rPr>
              <a:t>contoh</a:t>
            </a:r>
            <a:endParaRPr lang="id-ID" dirty="0">
              <a:latin typeface="JetBrains Mono" panose="02000009000000000000" pitchFamily="49" charset="0"/>
              <a:cs typeface="JetBrains Mono" panose="02000009000000000000" pitchFamily="49" charset="0"/>
            </a:endParaRPr>
          </a:p>
        </p:txBody>
      </p:sp>
      <p:sp>
        <p:nvSpPr>
          <p:cNvPr id="3" name="Content Placeholder 2">
            <a:extLst>
              <a:ext uri="{FF2B5EF4-FFF2-40B4-BE49-F238E27FC236}">
                <a16:creationId xmlns:a16="http://schemas.microsoft.com/office/drawing/2014/main" id="{506A03E4-96BA-4652-A85F-B287DFCD5EF1}"/>
              </a:ext>
            </a:extLst>
          </p:cNvPr>
          <p:cNvSpPr>
            <a:spLocks noGrp="1"/>
          </p:cNvSpPr>
          <p:nvPr>
            <p:ph idx="1"/>
          </p:nvPr>
        </p:nvSpPr>
        <p:spPr/>
        <p:txBody>
          <a:bodyPr/>
          <a:lstStyle/>
          <a:p>
            <a:pPr marL="0" indent="0">
              <a:buNone/>
            </a:pPr>
            <a:r>
              <a:rPr lang="nb-NO" dirty="0">
                <a:latin typeface="JetBrains Mono" panose="02000009000000000000" pitchFamily="49" charset="0"/>
                <a:cs typeface="JetBrains Mono" panose="02000009000000000000" pitchFamily="49" charset="0"/>
              </a:rPr>
              <a:t>&lt;div class="</a:t>
            </a:r>
            <a:r>
              <a:rPr lang="nb-NO" dirty="0">
                <a:solidFill>
                  <a:srgbClr val="FF0000"/>
                </a:solidFill>
                <a:latin typeface="JetBrains Mono" panose="02000009000000000000" pitchFamily="49" charset="0"/>
                <a:cs typeface="JetBrains Mono" panose="02000009000000000000" pitchFamily="49" charset="0"/>
              </a:rPr>
              <a:t>col-12</a:t>
            </a:r>
            <a:r>
              <a:rPr lang="nb-NO" dirty="0">
                <a:latin typeface="JetBrains Mono" panose="02000009000000000000" pitchFamily="49" charset="0"/>
                <a:cs typeface="JetBrains Mono" panose="02000009000000000000" pitchFamily="49" charset="0"/>
              </a:rPr>
              <a:t>"&gt;</a:t>
            </a:r>
          </a:p>
          <a:p>
            <a:pPr marL="0" indent="0">
              <a:buNone/>
            </a:pPr>
            <a:r>
              <a:rPr lang="nb-NO" dirty="0">
                <a:latin typeface="JetBrains Mono" panose="02000009000000000000" pitchFamily="49" charset="0"/>
                <a:cs typeface="JetBrains Mono" panose="02000009000000000000" pitchFamily="49" charset="0"/>
              </a:rPr>
              <a:t>&lt;!-- ukuran kolom ini 12 --&gt;</a:t>
            </a:r>
          </a:p>
          <a:p>
            <a:pPr marL="0" indent="0">
              <a:buNone/>
            </a:pPr>
            <a:r>
              <a:rPr lang="nb-NO" dirty="0">
                <a:latin typeface="JetBrains Mono" panose="02000009000000000000" pitchFamily="49" charset="0"/>
                <a:cs typeface="JetBrains Mono" panose="02000009000000000000" pitchFamily="49" charset="0"/>
              </a:rPr>
              <a:t>&lt;/div&gt;</a:t>
            </a:r>
          </a:p>
          <a:p>
            <a:pPr marL="0" indent="0">
              <a:buNone/>
            </a:pPr>
            <a:r>
              <a:rPr lang="nb-NO" dirty="0">
                <a:latin typeface="JetBrains Mono" panose="02000009000000000000" pitchFamily="49" charset="0"/>
                <a:cs typeface="JetBrains Mono" panose="02000009000000000000" pitchFamily="49" charset="0"/>
              </a:rPr>
              <a:t>&lt;div class="</a:t>
            </a:r>
            <a:r>
              <a:rPr lang="nb-NO" dirty="0">
                <a:solidFill>
                  <a:srgbClr val="FF0000"/>
                </a:solidFill>
                <a:latin typeface="JetBrains Mono" panose="02000009000000000000" pitchFamily="49" charset="0"/>
                <a:cs typeface="JetBrains Mono" panose="02000009000000000000" pitchFamily="49" charset="0"/>
              </a:rPr>
              <a:t>col-6</a:t>
            </a:r>
            <a:r>
              <a:rPr lang="nb-NO" dirty="0">
                <a:latin typeface="JetBrains Mono" panose="02000009000000000000" pitchFamily="49" charset="0"/>
                <a:cs typeface="JetBrains Mono" panose="02000009000000000000" pitchFamily="49" charset="0"/>
              </a:rPr>
              <a:t>"&gt;</a:t>
            </a:r>
          </a:p>
          <a:p>
            <a:pPr marL="0" indent="0">
              <a:buNone/>
            </a:pPr>
            <a:r>
              <a:rPr lang="nb-NO" dirty="0">
                <a:latin typeface="JetBrains Mono" panose="02000009000000000000" pitchFamily="49" charset="0"/>
                <a:cs typeface="JetBrains Mono" panose="02000009000000000000" pitchFamily="49" charset="0"/>
              </a:rPr>
              <a:t>&lt;!-- ukuran kolom ini 6 --&gt;</a:t>
            </a:r>
          </a:p>
          <a:p>
            <a:pPr marL="0" indent="0">
              <a:buNone/>
            </a:pPr>
            <a:r>
              <a:rPr lang="nb-NO" dirty="0">
                <a:latin typeface="JetBrains Mono" panose="02000009000000000000" pitchFamily="49" charset="0"/>
                <a:cs typeface="JetBrains Mono" panose="02000009000000000000" pitchFamily="49" charset="0"/>
              </a:rPr>
              <a:t>&lt;/div&gt;</a:t>
            </a:r>
            <a:endParaRPr lang="id-ID" dirty="0">
              <a:latin typeface="JetBrains Mono" panose="02000009000000000000" pitchFamily="49" charset="0"/>
              <a:cs typeface="JetBrains Mono" panose="02000009000000000000" pitchFamily="49" charset="0"/>
            </a:endParaRPr>
          </a:p>
        </p:txBody>
      </p:sp>
    </p:spTree>
    <p:extLst>
      <p:ext uri="{BB962C8B-B14F-4D97-AF65-F5344CB8AC3E}">
        <p14:creationId xmlns:p14="http://schemas.microsoft.com/office/powerpoint/2010/main" val="292432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2AEE5B-72D1-4355-BC6E-A52609FCB7D5}"/>
              </a:ext>
            </a:extLst>
          </p:cNvPr>
          <p:cNvSpPr>
            <a:spLocks noGrp="1"/>
          </p:cNvSpPr>
          <p:nvPr>
            <p:ph idx="1"/>
          </p:nvPr>
        </p:nvSpPr>
        <p:spPr>
          <a:xfrm>
            <a:off x="1143000" y="844756"/>
            <a:ext cx="9905999" cy="2584244"/>
          </a:xfrm>
        </p:spPr>
        <p:txBody>
          <a:bodyPr/>
          <a:lstStyle/>
          <a:p>
            <a:pPr marL="0" indent="0" algn="just">
              <a:buNone/>
            </a:pPr>
            <a:r>
              <a:rPr lang="id-ID" dirty="0">
                <a:latin typeface="JetBrains Mono" panose="02000009000000000000" pitchFamily="49" charset="0"/>
                <a:cs typeface="JetBrains Mono" panose="02000009000000000000" pitchFamily="49" charset="0"/>
              </a:rPr>
              <a:t>Pada contoh tersebut, kita memberikan ukuran kolom 12 dan 6 tanpa menggunakan breakpoint.</a:t>
            </a:r>
          </a:p>
          <a:p>
            <a:pPr marL="0" indent="0" algn="just">
              <a:buNone/>
            </a:pPr>
            <a:r>
              <a:rPr lang="id-ID" dirty="0">
                <a:latin typeface="JetBrains Mono" panose="02000009000000000000" pitchFamily="49" charset="0"/>
                <a:cs typeface="JetBrains Mono" panose="02000009000000000000" pitchFamily="49" charset="0"/>
              </a:rPr>
              <a:t>Artinya:</a:t>
            </a:r>
          </a:p>
          <a:p>
            <a:pPr marL="0" indent="0" algn="just">
              <a:buNone/>
            </a:pPr>
            <a:r>
              <a:rPr lang="id-ID" dirty="0">
                <a:latin typeface="JetBrains Mono" panose="02000009000000000000" pitchFamily="49" charset="0"/>
                <a:cs typeface="JetBrains Mono" panose="02000009000000000000" pitchFamily="49" charset="0"/>
              </a:rPr>
              <a:t>Ukuran kolom tersebut akan tetap 12 dan 6 di semua ukuran layar.</a:t>
            </a:r>
          </a:p>
        </p:txBody>
      </p:sp>
      <p:pic>
        <p:nvPicPr>
          <p:cNvPr id="8" name="Picture 7">
            <a:extLst>
              <a:ext uri="{FF2B5EF4-FFF2-40B4-BE49-F238E27FC236}">
                <a16:creationId xmlns:a16="http://schemas.microsoft.com/office/drawing/2014/main" id="{AB85E178-D97C-4C40-BDC3-B17AC5B72A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2202" y="3429000"/>
            <a:ext cx="6527596" cy="2799522"/>
          </a:xfrm>
          <a:prstGeom prst="rect">
            <a:avLst/>
          </a:prstGeom>
        </p:spPr>
      </p:pic>
    </p:spTree>
    <p:extLst>
      <p:ext uri="{BB962C8B-B14F-4D97-AF65-F5344CB8AC3E}">
        <p14:creationId xmlns:p14="http://schemas.microsoft.com/office/powerpoint/2010/main" val="727846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3630F0-EFFA-4A7F-8821-46E821CD71F3}"/>
              </a:ext>
            </a:extLst>
          </p:cNvPr>
          <p:cNvSpPr>
            <a:spLocks noGrp="1"/>
          </p:cNvSpPr>
          <p:nvPr>
            <p:ph idx="1"/>
          </p:nvPr>
        </p:nvSpPr>
        <p:spPr>
          <a:xfrm>
            <a:off x="1143000" y="818253"/>
            <a:ext cx="9905999" cy="5489782"/>
          </a:xfrm>
        </p:spPr>
        <p:txBody>
          <a:bodyPr>
            <a:normAutofit/>
          </a:bodyPr>
          <a:lstStyle/>
          <a:p>
            <a:pPr marL="0" indent="0" algn="just">
              <a:buNone/>
            </a:pPr>
            <a:r>
              <a:rPr lang="id-ID" sz="2000" dirty="0">
                <a:latin typeface="JetBrains Mono" panose="02000009000000000000" pitchFamily="49" charset="0"/>
                <a:cs typeface="JetBrains Mono" panose="02000009000000000000" pitchFamily="49" charset="0"/>
              </a:rPr>
              <a:t>Bagaimana kalau kita ingin mengubah, misalnya menjadi 8 pada layar komputer dan tetap 12 pada layar HP.</a:t>
            </a:r>
          </a:p>
          <a:p>
            <a:pPr marL="0" indent="0" algn="just">
              <a:buNone/>
            </a:pPr>
            <a:r>
              <a:rPr lang="id-ID" sz="2000" dirty="0">
                <a:latin typeface="JetBrains Mono" panose="02000009000000000000" pitchFamily="49" charset="0"/>
                <a:cs typeface="JetBrains Mono" panose="02000009000000000000" pitchFamily="49" charset="0"/>
              </a:rPr>
              <a:t>Gampang!</a:t>
            </a:r>
          </a:p>
          <a:p>
            <a:pPr marL="0" indent="0" algn="just">
              <a:buNone/>
            </a:pPr>
            <a:r>
              <a:rPr lang="id-ID" sz="2000" dirty="0">
                <a:latin typeface="JetBrains Mono" panose="02000009000000000000" pitchFamily="49" charset="0"/>
                <a:cs typeface="JetBrains Mono" panose="02000009000000000000" pitchFamily="49" charset="0"/>
              </a:rPr>
              <a:t>Tinggal berikan </a:t>
            </a:r>
            <a:r>
              <a:rPr lang="id-ID" sz="2000" dirty="0">
                <a:solidFill>
                  <a:srgbClr val="FF0000"/>
                </a:solidFill>
                <a:latin typeface="JetBrains Mono" panose="02000009000000000000" pitchFamily="49" charset="0"/>
                <a:cs typeface="JetBrains Mono" panose="02000009000000000000" pitchFamily="49" charset="0"/>
              </a:rPr>
              <a:t>breakpoint</a:t>
            </a:r>
            <a:r>
              <a:rPr lang="id-ID" sz="2000" dirty="0">
                <a:latin typeface="JetBrains Mono" panose="02000009000000000000" pitchFamily="49" charset="0"/>
                <a:cs typeface="JetBrains Mono" panose="02000009000000000000" pitchFamily="49" charset="0"/>
              </a:rPr>
              <a:t>.</a:t>
            </a:r>
            <a:endParaRPr lang="en-US" sz="2000" dirty="0">
              <a:latin typeface="JetBrains Mono" panose="02000009000000000000" pitchFamily="49" charset="0"/>
              <a:cs typeface="JetBrains Mono" panose="02000009000000000000" pitchFamily="49" charset="0"/>
            </a:endParaRPr>
          </a:p>
          <a:p>
            <a:pPr marL="457200" lvl="1" indent="0" algn="just">
              <a:buNone/>
            </a:pPr>
            <a:r>
              <a:rPr lang="id-ID" dirty="0">
                <a:latin typeface="JetBrains Mono" panose="02000009000000000000" pitchFamily="49" charset="0"/>
                <a:cs typeface="JetBrains Mono" panose="02000009000000000000" pitchFamily="49" charset="0"/>
              </a:rPr>
              <a:t>&lt;div class="col-12 </a:t>
            </a:r>
            <a:r>
              <a:rPr lang="id-ID" dirty="0">
                <a:solidFill>
                  <a:srgbClr val="FF0000"/>
                </a:solidFill>
                <a:latin typeface="JetBrains Mono" panose="02000009000000000000" pitchFamily="49" charset="0"/>
                <a:cs typeface="JetBrains Mono" panose="02000009000000000000" pitchFamily="49" charset="0"/>
              </a:rPr>
              <a:t>col-lg-8</a:t>
            </a:r>
            <a:r>
              <a:rPr lang="id-ID" dirty="0">
                <a:latin typeface="JetBrains Mono" panose="02000009000000000000" pitchFamily="49" charset="0"/>
                <a:cs typeface="JetBrains Mono" panose="02000009000000000000" pitchFamily="49" charset="0"/>
              </a:rPr>
              <a:t>"&gt;</a:t>
            </a:r>
          </a:p>
          <a:p>
            <a:pPr marL="457200" lvl="1" indent="0" algn="just">
              <a:buNone/>
            </a:pPr>
            <a:r>
              <a:rPr lang="id-ID" dirty="0">
                <a:latin typeface="JetBrains Mono" panose="02000009000000000000" pitchFamily="49" charset="0"/>
                <a:cs typeface="JetBrains Mono" panose="02000009000000000000" pitchFamily="49" charset="0"/>
              </a:rPr>
              <a:t>  &lt;!-- ukuran kolom ini 12 pada layar hp --&gt;</a:t>
            </a:r>
          </a:p>
          <a:p>
            <a:pPr marL="457200" lvl="1" indent="0" algn="just">
              <a:buNone/>
            </a:pPr>
            <a:r>
              <a:rPr lang="id-ID" dirty="0">
                <a:latin typeface="JetBrains Mono" panose="02000009000000000000" pitchFamily="49" charset="0"/>
                <a:cs typeface="JetBrains Mono" panose="02000009000000000000" pitchFamily="49" charset="0"/>
              </a:rPr>
              <a:t>  &lt;!-- ukuran kolom ini 8 pada layar komputer --&gt;</a:t>
            </a:r>
          </a:p>
          <a:p>
            <a:pPr marL="457200" lvl="1" indent="0" algn="just">
              <a:buNone/>
            </a:pPr>
            <a:r>
              <a:rPr lang="id-ID" dirty="0">
                <a:latin typeface="JetBrains Mono" panose="02000009000000000000" pitchFamily="49" charset="0"/>
                <a:cs typeface="JetBrains Mono" panose="02000009000000000000" pitchFamily="49" charset="0"/>
              </a:rPr>
              <a:t>&lt;/div&gt;</a:t>
            </a:r>
          </a:p>
          <a:p>
            <a:pPr marL="457200" lvl="1" indent="0" algn="just">
              <a:buNone/>
            </a:pPr>
            <a:r>
              <a:rPr lang="id-ID" dirty="0">
                <a:latin typeface="JetBrains Mono" panose="02000009000000000000" pitchFamily="49" charset="0"/>
                <a:cs typeface="JetBrains Mono" panose="02000009000000000000" pitchFamily="49" charset="0"/>
              </a:rPr>
              <a:t>&lt;div class="col-6"&gt;</a:t>
            </a:r>
          </a:p>
          <a:p>
            <a:pPr marL="457200" lvl="1" indent="0" algn="just">
              <a:buNone/>
            </a:pPr>
            <a:r>
              <a:rPr lang="id-ID" dirty="0">
                <a:latin typeface="JetBrains Mono" panose="02000009000000000000" pitchFamily="49" charset="0"/>
                <a:cs typeface="JetBrains Mono" panose="02000009000000000000" pitchFamily="49" charset="0"/>
              </a:rPr>
              <a:t>  &lt;!-- ukuran kolom ini 6 --&gt;</a:t>
            </a:r>
          </a:p>
          <a:p>
            <a:pPr marL="457200" lvl="1" indent="0" algn="just">
              <a:buNone/>
            </a:pPr>
            <a:r>
              <a:rPr lang="id-ID" dirty="0">
                <a:latin typeface="JetBrains Mono" panose="02000009000000000000" pitchFamily="49" charset="0"/>
                <a:cs typeface="JetBrains Mono" panose="02000009000000000000" pitchFamily="49" charset="0"/>
              </a:rPr>
              <a:t>&lt;/div&gt;</a:t>
            </a:r>
          </a:p>
          <a:p>
            <a:pPr marL="0" indent="0" algn="just">
              <a:buNone/>
            </a:pPr>
            <a:r>
              <a:rPr lang="id-ID" sz="2000" dirty="0">
                <a:latin typeface="JetBrains Mono" panose="02000009000000000000" pitchFamily="49" charset="0"/>
                <a:cs typeface="JetBrains Mono" panose="02000009000000000000" pitchFamily="49" charset="0"/>
              </a:rPr>
              <a:t>Nah, sekarang ukurannya akan menjadi 8 di layar komputer.</a:t>
            </a:r>
          </a:p>
        </p:txBody>
      </p:sp>
    </p:spTree>
    <p:extLst>
      <p:ext uri="{BB962C8B-B14F-4D97-AF65-F5344CB8AC3E}">
        <p14:creationId xmlns:p14="http://schemas.microsoft.com/office/powerpoint/2010/main" val="4052635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A1CB3C3-C55F-460C-A757-3CF2085642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7366" y="643037"/>
            <a:ext cx="6897267" cy="3173589"/>
          </a:xfrm>
        </p:spPr>
      </p:pic>
      <p:sp>
        <p:nvSpPr>
          <p:cNvPr id="6" name="TextBox 5">
            <a:extLst>
              <a:ext uri="{FF2B5EF4-FFF2-40B4-BE49-F238E27FC236}">
                <a16:creationId xmlns:a16="http://schemas.microsoft.com/office/drawing/2014/main" id="{A2954A0F-437A-4D83-B7C3-4400072AF9A4}"/>
              </a:ext>
            </a:extLst>
          </p:cNvPr>
          <p:cNvSpPr txBox="1"/>
          <p:nvPr/>
        </p:nvSpPr>
        <p:spPr>
          <a:xfrm>
            <a:off x="2647366" y="4174435"/>
            <a:ext cx="6897267" cy="707886"/>
          </a:xfrm>
          <a:prstGeom prst="rect">
            <a:avLst/>
          </a:prstGeom>
          <a:noFill/>
        </p:spPr>
        <p:txBody>
          <a:bodyPr wrap="square" rtlCol="0">
            <a:spAutoFit/>
          </a:bodyPr>
          <a:lstStyle/>
          <a:p>
            <a:r>
              <a:rPr lang="en-US" sz="2000" dirty="0" err="1">
                <a:latin typeface="JetBrains Mono" panose="02000009000000000000" pitchFamily="49" charset="0"/>
                <a:cs typeface="JetBrains Mono" panose="02000009000000000000" pitchFamily="49" charset="0"/>
              </a:rPr>
              <a:t>Bagai</a:t>
            </a:r>
            <a:r>
              <a:rPr lang="id-ID" sz="2000" dirty="0">
                <a:latin typeface="JetBrains Mono" panose="02000009000000000000" pitchFamily="49" charset="0"/>
                <a:cs typeface="JetBrains Mono" panose="02000009000000000000" pitchFamily="49" charset="0"/>
              </a:rPr>
              <a:t>mana sudah paham?</a:t>
            </a:r>
          </a:p>
          <a:p>
            <a:r>
              <a:rPr lang="id-ID" sz="2000" dirty="0">
                <a:latin typeface="JetBrains Mono" panose="02000009000000000000" pitchFamily="49" charset="0"/>
                <a:cs typeface="JetBrains Mono" panose="02000009000000000000" pitchFamily="49" charset="0"/>
              </a:rPr>
              <a:t>Kalau </a:t>
            </a:r>
            <a:r>
              <a:rPr lang="en-US" sz="2000" dirty="0">
                <a:latin typeface="JetBrains Mono" panose="02000009000000000000" pitchFamily="49" charset="0"/>
                <a:cs typeface="JetBrains Mono" panose="02000009000000000000" pitchFamily="49" charset="0"/>
              </a:rPr>
              <a:t>be</a:t>
            </a:r>
            <a:r>
              <a:rPr lang="id-ID" sz="2000" dirty="0">
                <a:latin typeface="JetBrains Mono" panose="02000009000000000000" pitchFamily="49" charset="0"/>
                <a:cs typeface="JetBrains Mono" panose="02000009000000000000" pitchFamily="49" charset="0"/>
              </a:rPr>
              <a:t>gitu, lanjut kita bahas container.</a:t>
            </a:r>
          </a:p>
        </p:txBody>
      </p:sp>
    </p:spTree>
    <p:extLst>
      <p:ext uri="{BB962C8B-B14F-4D97-AF65-F5344CB8AC3E}">
        <p14:creationId xmlns:p14="http://schemas.microsoft.com/office/powerpoint/2010/main" val="4049517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D0DA2-A726-47C8-9D0D-928C41B49B40}"/>
              </a:ext>
            </a:extLst>
          </p:cNvPr>
          <p:cNvSpPr>
            <a:spLocks noGrp="1"/>
          </p:cNvSpPr>
          <p:nvPr>
            <p:ph type="title"/>
          </p:nvPr>
        </p:nvSpPr>
        <p:spPr/>
        <p:txBody>
          <a:bodyPr/>
          <a:lstStyle/>
          <a:p>
            <a:r>
              <a:rPr lang="en-US" dirty="0">
                <a:latin typeface="JetBrains Mono" panose="02000009000000000000" pitchFamily="49" charset="0"/>
                <a:cs typeface="JetBrains Mono" panose="02000009000000000000" pitchFamily="49" charset="0"/>
              </a:rPr>
              <a:t>Class container</a:t>
            </a:r>
            <a:endParaRPr lang="id-ID" dirty="0">
              <a:latin typeface="JetBrains Mono" panose="02000009000000000000" pitchFamily="49" charset="0"/>
              <a:cs typeface="JetBrains Mono" panose="02000009000000000000" pitchFamily="49" charset="0"/>
            </a:endParaRPr>
          </a:p>
        </p:txBody>
      </p:sp>
      <p:sp>
        <p:nvSpPr>
          <p:cNvPr id="3" name="Content Placeholder 2">
            <a:extLst>
              <a:ext uri="{FF2B5EF4-FFF2-40B4-BE49-F238E27FC236}">
                <a16:creationId xmlns:a16="http://schemas.microsoft.com/office/drawing/2014/main" id="{CB28BB93-D653-456D-8396-6FC5192DE672}"/>
              </a:ext>
            </a:extLst>
          </p:cNvPr>
          <p:cNvSpPr>
            <a:spLocks noGrp="1"/>
          </p:cNvSpPr>
          <p:nvPr>
            <p:ph idx="1"/>
          </p:nvPr>
        </p:nvSpPr>
        <p:spPr>
          <a:xfrm>
            <a:off x="1141412" y="1679642"/>
            <a:ext cx="9905999" cy="1478570"/>
          </a:xfrm>
        </p:spPr>
        <p:txBody>
          <a:bodyPr>
            <a:normAutofit lnSpcReduction="10000"/>
          </a:bodyPr>
          <a:lstStyle/>
          <a:p>
            <a:pPr marL="0" indent="0" algn="just">
              <a:buNone/>
            </a:pPr>
            <a:r>
              <a:rPr lang="id-ID" dirty="0"/>
              <a:t>Container adalah fondasi dasar dari blok layout. Container berfungsi untuk membungkus blok di dalamnya, sehingga terlihat rapi terhadap ukuran layar.</a:t>
            </a:r>
          </a:p>
          <a:p>
            <a:pPr marL="0" indent="0" algn="just">
              <a:buNone/>
            </a:pPr>
            <a:r>
              <a:rPr lang="id-ID" dirty="0"/>
              <a:t>Container juga memiliki breakpoint.</a:t>
            </a:r>
          </a:p>
        </p:txBody>
      </p:sp>
      <p:pic>
        <p:nvPicPr>
          <p:cNvPr id="5" name="Picture 4">
            <a:extLst>
              <a:ext uri="{FF2B5EF4-FFF2-40B4-BE49-F238E27FC236}">
                <a16:creationId xmlns:a16="http://schemas.microsoft.com/office/drawing/2014/main" id="{8C5A151A-07EF-42E6-AC75-9D07FAF1F7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5321" y="3143368"/>
            <a:ext cx="7421357" cy="3050496"/>
          </a:xfrm>
          <a:prstGeom prst="rect">
            <a:avLst/>
          </a:prstGeom>
        </p:spPr>
      </p:pic>
    </p:spTree>
    <p:extLst>
      <p:ext uri="{BB962C8B-B14F-4D97-AF65-F5344CB8AC3E}">
        <p14:creationId xmlns:p14="http://schemas.microsoft.com/office/powerpoint/2010/main" val="1354494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05E945-48AE-4B14-9AB3-B57646733D10}"/>
              </a:ext>
            </a:extLst>
          </p:cNvPr>
          <p:cNvSpPr>
            <a:spLocks noGrp="1"/>
          </p:cNvSpPr>
          <p:nvPr>
            <p:ph idx="1"/>
          </p:nvPr>
        </p:nvSpPr>
        <p:spPr>
          <a:xfrm>
            <a:off x="1143000" y="689113"/>
            <a:ext cx="9905999" cy="5486400"/>
          </a:xfrm>
        </p:spPr>
        <p:txBody>
          <a:bodyPr>
            <a:normAutofit fontScale="92500" lnSpcReduction="10000"/>
          </a:bodyPr>
          <a:lstStyle/>
          <a:p>
            <a:pPr marL="0" indent="0" algn="just">
              <a:buNone/>
            </a:pPr>
            <a:r>
              <a:rPr lang="sv-SE" sz="1400" dirty="0">
                <a:latin typeface="JetBrains Mono" panose="02000009000000000000" pitchFamily="49" charset="0"/>
                <a:cs typeface="JetBrains Mono" panose="02000009000000000000" pitchFamily="49" charset="0"/>
              </a:rPr>
              <a:t>Ukuran kontainer akan 100% pada breakpoint tertentu. Misalnya, jika kita menggunakan class </a:t>
            </a:r>
            <a:r>
              <a:rPr lang="sv-SE" sz="1400" dirty="0">
                <a:solidFill>
                  <a:srgbClr val="FF0000"/>
                </a:solidFill>
                <a:latin typeface="JetBrains Mono" panose="02000009000000000000" pitchFamily="49" charset="0"/>
                <a:cs typeface="JetBrains Mono" panose="02000009000000000000" pitchFamily="49" charset="0"/>
              </a:rPr>
              <a:t>container-md</a:t>
            </a:r>
            <a:r>
              <a:rPr lang="sv-SE" sz="1400" dirty="0">
                <a:latin typeface="JetBrains Mono" panose="02000009000000000000" pitchFamily="49" charset="0"/>
                <a:cs typeface="JetBrains Mono" panose="02000009000000000000" pitchFamily="49" charset="0"/>
              </a:rPr>
              <a:t> maka lebar kontainer akan 100% pada layar </a:t>
            </a:r>
            <a:r>
              <a:rPr lang="sv-SE" sz="1400" dirty="0">
                <a:solidFill>
                  <a:srgbClr val="FF0000"/>
                </a:solidFill>
                <a:latin typeface="JetBrains Mono" panose="02000009000000000000" pitchFamily="49" charset="0"/>
                <a:cs typeface="JetBrains Mono" panose="02000009000000000000" pitchFamily="49" charset="0"/>
              </a:rPr>
              <a:t>Extra Small dan Small.</a:t>
            </a:r>
          </a:p>
          <a:p>
            <a:pPr marL="0" indent="0" algn="just">
              <a:buNone/>
            </a:pPr>
            <a:r>
              <a:rPr lang="sv-SE" sz="1400" dirty="0">
                <a:latin typeface="JetBrains Mono" panose="02000009000000000000" pitchFamily="49" charset="0"/>
                <a:cs typeface="JetBrains Mono" panose="02000009000000000000" pitchFamily="49" charset="0"/>
              </a:rPr>
              <a:t>Contoh:</a:t>
            </a:r>
          </a:p>
          <a:p>
            <a:pPr marL="0" indent="0" algn="just">
              <a:buNone/>
            </a:pPr>
            <a:r>
              <a:rPr lang="id-ID" sz="1400" dirty="0">
                <a:latin typeface="JetBrains Mono" panose="02000009000000000000" pitchFamily="49" charset="0"/>
                <a:cs typeface="JetBrains Mono" panose="02000009000000000000" pitchFamily="49" charset="0"/>
              </a:rPr>
              <a:t>&lt;!DOCTYPE html&gt;</a:t>
            </a:r>
          </a:p>
          <a:p>
            <a:pPr marL="0" indent="0" algn="just">
              <a:buNone/>
            </a:pPr>
            <a:r>
              <a:rPr lang="id-ID" sz="1400" dirty="0">
                <a:latin typeface="JetBrains Mono" panose="02000009000000000000" pitchFamily="49" charset="0"/>
                <a:cs typeface="JetBrains Mono" panose="02000009000000000000" pitchFamily="49" charset="0"/>
              </a:rPr>
              <a:t>&lt;html lang="en"&gt;</a:t>
            </a:r>
          </a:p>
          <a:p>
            <a:pPr marL="0" indent="0" algn="just">
              <a:buNone/>
            </a:pPr>
            <a:r>
              <a:rPr lang="id-ID" sz="1400" dirty="0">
                <a:latin typeface="JetBrains Mono" panose="02000009000000000000" pitchFamily="49" charset="0"/>
                <a:cs typeface="JetBrains Mono" panose="02000009000000000000" pitchFamily="49" charset="0"/>
              </a:rPr>
              <a:t>  &lt;head&gt;</a:t>
            </a:r>
          </a:p>
          <a:p>
            <a:pPr marL="0" indent="0" algn="just">
              <a:buNone/>
            </a:pPr>
            <a:r>
              <a:rPr lang="id-ID" sz="1400" dirty="0">
                <a:latin typeface="JetBrains Mono" panose="02000009000000000000" pitchFamily="49" charset="0"/>
                <a:cs typeface="JetBrains Mono" panose="02000009000000000000" pitchFamily="49" charset="0"/>
              </a:rPr>
              <a:t>    &lt;meta charset="UTF-8" /&gt;</a:t>
            </a:r>
          </a:p>
          <a:p>
            <a:pPr marL="0" indent="0" algn="just">
              <a:buNone/>
            </a:pPr>
            <a:r>
              <a:rPr lang="id-ID" sz="1400" dirty="0">
                <a:latin typeface="JetBrains Mono" panose="02000009000000000000" pitchFamily="49" charset="0"/>
                <a:cs typeface="JetBrains Mono" panose="02000009000000000000" pitchFamily="49" charset="0"/>
              </a:rPr>
              <a:t>    &lt;meta name="viewport" content="width=device-width, initial-scale=1.0" /&gt;</a:t>
            </a:r>
          </a:p>
          <a:p>
            <a:pPr marL="0" indent="0" algn="just">
              <a:buNone/>
            </a:pPr>
            <a:r>
              <a:rPr lang="id-ID" sz="1400" dirty="0">
                <a:latin typeface="JetBrains Mono" panose="02000009000000000000" pitchFamily="49" charset="0"/>
                <a:cs typeface="JetBrains Mono" panose="02000009000000000000" pitchFamily="49" charset="0"/>
              </a:rPr>
              <a:t>    &lt;title&gt;Contoh Container&lt;/title&gt;</a:t>
            </a:r>
          </a:p>
          <a:p>
            <a:pPr marL="0" indent="0" algn="just">
              <a:buNone/>
            </a:pPr>
            <a:r>
              <a:rPr lang="id-ID" sz="1400" dirty="0">
                <a:latin typeface="JetBrains Mono" panose="02000009000000000000" pitchFamily="49" charset="0"/>
                <a:cs typeface="JetBrains Mono" panose="02000009000000000000" pitchFamily="49" charset="0"/>
              </a:rPr>
              <a:t>    &lt;!-- CDN Bootstrap untuk CSS --&gt;</a:t>
            </a:r>
          </a:p>
          <a:p>
            <a:pPr marL="0" indent="0" algn="just">
              <a:buNone/>
            </a:pPr>
            <a:r>
              <a:rPr lang="id-ID" sz="1400" dirty="0">
                <a:latin typeface="JetBrains Mono" panose="02000009000000000000" pitchFamily="49" charset="0"/>
                <a:cs typeface="JetBrains Mono" panose="02000009000000000000" pitchFamily="49" charset="0"/>
              </a:rPr>
              <a:t>    &lt;link</a:t>
            </a:r>
          </a:p>
          <a:p>
            <a:pPr marL="0" indent="0" algn="just">
              <a:buNone/>
            </a:pPr>
            <a:r>
              <a:rPr lang="id-ID" sz="1400" dirty="0">
                <a:latin typeface="JetBrains Mono" panose="02000009000000000000" pitchFamily="49" charset="0"/>
                <a:cs typeface="JetBrains Mono" panose="02000009000000000000" pitchFamily="49" charset="0"/>
              </a:rPr>
              <a:t>      href="https://cdn.jsdelivr.net/npm/bootstrap@5.1.3/dist/css/bootstrap.min.css"</a:t>
            </a:r>
          </a:p>
          <a:p>
            <a:pPr marL="0" indent="0" algn="just">
              <a:buNone/>
            </a:pPr>
            <a:r>
              <a:rPr lang="id-ID" sz="1400" dirty="0">
                <a:latin typeface="JetBrains Mono" panose="02000009000000000000" pitchFamily="49" charset="0"/>
                <a:cs typeface="JetBrains Mono" panose="02000009000000000000" pitchFamily="49" charset="0"/>
              </a:rPr>
              <a:t>      rel="stylesheet"</a:t>
            </a:r>
          </a:p>
          <a:p>
            <a:pPr marL="0" indent="0" algn="just">
              <a:buNone/>
            </a:pPr>
            <a:r>
              <a:rPr lang="id-ID" sz="1400" dirty="0">
                <a:latin typeface="JetBrains Mono" panose="02000009000000000000" pitchFamily="49" charset="0"/>
                <a:cs typeface="JetBrains Mono" panose="02000009000000000000" pitchFamily="49" charset="0"/>
              </a:rPr>
              <a:t>      integrity="sha384-1BmE4kWBq78iYhFldvKuhfTAU6auU8tT94WrHftjDbrCEXSU1oBoqyl2QvZ6jIW3"</a:t>
            </a:r>
          </a:p>
          <a:p>
            <a:pPr marL="0" indent="0" algn="just">
              <a:buNone/>
            </a:pPr>
            <a:r>
              <a:rPr lang="id-ID" sz="1400" dirty="0">
                <a:latin typeface="JetBrains Mono" panose="02000009000000000000" pitchFamily="49" charset="0"/>
                <a:cs typeface="JetBrains Mono" panose="02000009000000000000" pitchFamily="49" charset="0"/>
              </a:rPr>
              <a:t>      crossorigin="anonymous"</a:t>
            </a:r>
          </a:p>
          <a:p>
            <a:pPr marL="0" indent="0" algn="just">
              <a:buNone/>
            </a:pPr>
            <a:r>
              <a:rPr lang="id-ID" sz="1400" dirty="0">
                <a:latin typeface="JetBrains Mono" panose="02000009000000000000" pitchFamily="49" charset="0"/>
                <a:cs typeface="JetBrains Mono" panose="02000009000000000000" pitchFamily="49" charset="0"/>
              </a:rPr>
              <a:t>    /&gt;</a:t>
            </a:r>
          </a:p>
        </p:txBody>
      </p:sp>
    </p:spTree>
    <p:extLst>
      <p:ext uri="{BB962C8B-B14F-4D97-AF65-F5344CB8AC3E}">
        <p14:creationId xmlns:p14="http://schemas.microsoft.com/office/powerpoint/2010/main" val="1636975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0C6AAC-A834-46D8-AE88-4C21F672C202}"/>
              </a:ext>
            </a:extLst>
          </p:cNvPr>
          <p:cNvSpPr>
            <a:spLocks noGrp="1"/>
          </p:cNvSpPr>
          <p:nvPr>
            <p:ph idx="1"/>
          </p:nvPr>
        </p:nvSpPr>
        <p:spPr>
          <a:xfrm>
            <a:off x="1141412" y="609600"/>
            <a:ext cx="9905999" cy="5658678"/>
          </a:xfrm>
        </p:spPr>
        <p:txBody>
          <a:bodyPr>
            <a:normAutofit lnSpcReduction="10000"/>
          </a:bodyPr>
          <a:lstStyle/>
          <a:p>
            <a:pPr marL="0" indent="0" algn="just">
              <a:buNone/>
            </a:pPr>
            <a:r>
              <a:rPr lang="id-ID" sz="1400" dirty="0">
                <a:latin typeface="JetBrains Mono" panose="02000009000000000000" pitchFamily="49" charset="0"/>
                <a:cs typeface="JetBrains Mono" panose="02000009000000000000" pitchFamily="49" charset="0"/>
              </a:rPr>
              <a:t>&lt;!-- CDN Bootstrap untuk JS --&gt;</a:t>
            </a:r>
          </a:p>
          <a:p>
            <a:pPr marL="0" indent="0" algn="just">
              <a:buNone/>
            </a:pPr>
            <a:r>
              <a:rPr lang="id-ID" sz="1400" dirty="0">
                <a:latin typeface="JetBrains Mono" panose="02000009000000000000" pitchFamily="49" charset="0"/>
                <a:cs typeface="JetBrains Mono" panose="02000009000000000000" pitchFamily="49" charset="0"/>
              </a:rPr>
              <a:t>    &lt;script</a:t>
            </a:r>
          </a:p>
          <a:p>
            <a:pPr marL="0" indent="0" algn="just">
              <a:buNone/>
            </a:pPr>
            <a:r>
              <a:rPr lang="id-ID" sz="1400" dirty="0">
                <a:latin typeface="JetBrains Mono" panose="02000009000000000000" pitchFamily="49" charset="0"/>
                <a:cs typeface="JetBrains Mono" panose="02000009000000000000" pitchFamily="49" charset="0"/>
              </a:rPr>
              <a:t>      src="https://cdn.jsdelivr.net/npm/bootstrap@5.1.3/dist/js/bootstrap.bundle.min.js"</a:t>
            </a:r>
          </a:p>
          <a:p>
            <a:pPr marL="0" indent="0" algn="just">
              <a:buNone/>
            </a:pPr>
            <a:r>
              <a:rPr lang="id-ID" sz="1400" dirty="0">
                <a:latin typeface="JetBrains Mono" panose="02000009000000000000" pitchFamily="49" charset="0"/>
                <a:cs typeface="JetBrains Mono" panose="02000009000000000000" pitchFamily="49" charset="0"/>
              </a:rPr>
              <a:t>      integrity="sha384-ka7Sk0Gln4gmtz2MlQnikT1wXgYsOg+OMhuP+IlRH9sENBO0LRn5q+8nbTov4+1p"</a:t>
            </a:r>
          </a:p>
          <a:p>
            <a:pPr marL="0" indent="0" algn="just">
              <a:buNone/>
            </a:pPr>
            <a:r>
              <a:rPr lang="id-ID" sz="1400" dirty="0">
                <a:latin typeface="JetBrains Mono" panose="02000009000000000000" pitchFamily="49" charset="0"/>
                <a:cs typeface="JetBrains Mono" panose="02000009000000000000" pitchFamily="49" charset="0"/>
              </a:rPr>
              <a:t>      crossorigin="anonymous"</a:t>
            </a:r>
          </a:p>
          <a:p>
            <a:pPr marL="0" indent="0" algn="just">
              <a:buNone/>
            </a:pPr>
            <a:r>
              <a:rPr lang="id-ID" sz="1400" dirty="0">
                <a:latin typeface="JetBrains Mono" panose="02000009000000000000" pitchFamily="49" charset="0"/>
                <a:cs typeface="JetBrains Mono" panose="02000009000000000000" pitchFamily="49" charset="0"/>
              </a:rPr>
              <a:t>    &gt;&lt;/script&gt;</a:t>
            </a:r>
          </a:p>
          <a:p>
            <a:pPr marL="0" indent="0" algn="just">
              <a:buNone/>
            </a:pPr>
            <a:r>
              <a:rPr lang="id-ID" sz="1400" dirty="0">
                <a:latin typeface="JetBrains Mono" panose="02000009000000000000" pitchFamily="49" charset="0"/>
                <a:cs typeface="JetBrains Mono" panose="02000009000000000000" pitchFamily="49" charset="0"/>
              </a:rPr>
              <a:t>  &lt;/head&gt;</a:t>
            </a:r>
          </a:p>
          <a:p>
            <a:pPr marL="0" indent="0" algn="just">
              <a:buNone/>
            </a:pPr>
            <a:r>
              <a:rPr lang="id-ID" sz="1400" dirty="0">
                <a:latin typeface="JetBrains Mono" panose="02000009000000000000" pitchFamily="49" charset="0"/>
                <a:cs typeface="JetBrains Mono" panose="02000009000000000000" pitchFamily="49" charset="0"/>
              </a:rPr>
              <a:t>  &lt;body&gt;</a:t>
            </a:r>
          </a:p>
          <a:p>
            <a:pPr marL="0" indent="0" algn="just">
              <a:buNone/>
            </a:pPr>
            <a:r>
              <a:rPr lang="id-ID" sz="1400" dirty="0">
                <a:latin typeface="JetBrains Mono" panose="02000009000000000000" pitchFamily="49" charset="0"/>
                <a:cs typeface="JetBrains Mono" panose="02000009000000000000" pitchFamily="49" charset="0"/>
              </a:rPr>
              <a:t>    &lt;header&gt;</a:t>
            </a:r>
          </a:p>
          <a:p>
            <a:pPr marL="0" indent="0" algn="just">
              <a:buNone/>
            </a:pPr>
            <a:r>
              <a:rPr lang="id-ID" sz="1400" dirty="0">
                <a:latin typeface="JetBrains Mono" panose="02000009000000000000" pitchFamily="49" charset="0"/>
                <a:cs typeface="JetBrains Mono" panose="02000009000000000000" pitchFamily="49" charset="0"/>
              </a:rPr>
              <a:t>      &lt;div class="</a:t>
            </a:r>
            <a:r>
              <a:rPr lang="id-ID" sz="1400" dirty="0">
                <a:solidFill>
                  <a:srgbClr val="FF0000"/>
                </a:solidFill>
                <a:latin typeface="JetBrains Mono" panose="02000009000000000000" pitchFamily="49" charset="0"/>
                <a:cs typeface="JetBrains Mono" panose="02000009000000000000" pitchFamily="49" charset="0"/>
              </a:rPr>
              <a:t>container</a:t>
            </a:r>
            <a:r>
              <a:rPr lang="id-ID" sz="1400" dirty="0">
                <a:latin typeface="JetBrains Mono" panose="02000009000000000000" pitchFamily="49" charset="0"/>
                <a:cs typeface="JetBrains Mono" panose="02000009000000000000" pitchFamily="49" charset="0"/>
              </a:rPr>
              <a:t> bg-info text-white"&gt;</a:t>
            </a:r>
          </a:p>
          <a:p>
            <a:pPr marL="0" indent="0" algn="just">
              <a:buNone/>
            </a:pPr>
            <a:r>
              <a:rPr lang="id-ID" sz="1400" dirty="0">
                <a:latin typeface="JetBrains Mono" panose="02000009000000000000" pitchFamily="49" charset="0"/>
                <a:cs typeface="JetBrains Mono" panose="02000009000000000000" pitchFamily="49" charset="0"/>
              </a:rPr>
              <a:t>        &lt;h1&gt;Contoh Container&lt;/h1&gt;</a:t>
            </a:r>
          </a:p>
          <a:p>
            <a:pPr marL="0" indent="0" algn="just">
              <a:buNone/>
            </a:pPr>
            <a:r>
              <a:rPr lang="id-ID" sz="1400" dirty="0">
                <a:latin typeface="JetBrains Mono" panose="02000009000000000000" pitchFamily="49" charset="0"/>
                <a:cs typeface="JetBrains Mono" panose="02000009000000000000" pitchFamily="49" charset="0"/>
              </a:rPr>
              <a:t>      &lt;/div&gt;</a:t>
            </a:r>
          </a:p>
          <a:p>
            <a:pPr marL="0" indent="0" algn="just">
              <a:buNone/>
            </a:pPr>
            <a:r>
              <a:rPr lang="id-ID" sz="1400" dirty="0">
                <a:latin typeface="JetBrains Mono" panose="02000009000000000000" pitchFamily="49" charset="0"/>
                <a:cs typeface="JetBrains Mono" panose="02000009000000000000" pitchFamily="49" charset="0"/>
              </a:rPr>
              <a:t>    &lt;/header&gt;</a:t>
            </a:r>
          </a:p>
          <a:p>
            <a:pPr marL="0" indent="0" algn="just">
              <a:buNone/>
            </a:pPr>
            <a:r>
              <a:rPr lang="id-ID" sz="1400" dirty="0">
                <a:latin typeface="JetBrains Mono" panose="02000009000000000000" pitchFamily="49" charset="0"/>
                <a:cs typeface="JetBrains Mono" panose="02000009000000000000" pitchFamily="49" charset="0"/>
              </a:rPr>
              <a:t>  &lt;/body&gt;</a:t>
            </a:r>
          </a:p>
          <a:p>
            <a:pPr marL="0" indent="0" algn="just">
              <a:buNone/>
            </a:pPr>
            <a:r>
              <a:rPr lang="id-ID" sz="1400" dirty="0">
                <a:latin typeface="JetBrains Mono" panose="02000009000000000000" pitchFamily="49" charset="0"/>
                <a:cs typeface="JetBrains Mono" panose="02000009000000000000" pitchFamily="49" charset="0"/>
              </a:rPr>
              <a:t>&lt;/html&gt;</a:t>
            </a:r>
          </a:p>
        </p:txBody>
      </p:sp>
    </p:spTree>
    <p:extLst>
      <p:ext uri="{BB962C8B-B14F-4D97-AF65-F5344CB8AC3E}">
        <p14:creationId xmlns:p14="http://schemas.microsoft.com/office/powerpoint/2010/main" val="3224104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64529-F5EE-40EB-9AB5-261D5AF967AC}"/>
              </a:ext>
            </a:extLst>
          </p:cNvPr>
          <p:cNvSpPr>
            <a:spLocks noGrp="1"/>
          </p:cNvSpPr>
          <p:nvPr>
            <p:ph type="title"/>
          </p:nvPr>
        </p:nvSpPr>
        <p:spPr/>
        <p:txBody>
          <a:bodyPr>
            <a:normAutofit/>
          </a:bodyPr>
          <a:lstStyle/>
          <a:p>
            <a:r>
              <a:rPr lang="en-US" sz="2400" cap="none" dirty="0" err="1">
                <a:latin typeface="JetBrains Mono" panose="02000009000000000000" pitchFamily="49" charset="0"/>
                <a:cs typeface="JetBrains Mono" panose="02000009000000000000" pitchFamily="49" charset="0"/>
              </a:rPr>
              <a:t>hasilnya</a:t>
            </a:r>
            <a:endParaRPr lang="id-ID" sz="2400" dirty="0">
              <a:latin typeface="JetBrains Mono" panose="02000009000000000000" pitchFamily="49" charset="0"/>
              <a:cs typeface="JetBrains Mono" panose="02000009000000000000" pitchFamily="49" charset="0"/>
            </a:endParaRPr>
          </a:p>
        </p:txBody>
      </p:sp>
      <p:pic>
        <p:nvPicPr>
          <p:cNvPr id="5" name="Content Placeholder 4">
            <a:extLst>
              <a:ext uri="{FF2B5EF4-FFF2-40B4-BE49-F238E27FC236}">
                <a16:creationId xmlns:a16="http://schemas.microsoft.com/office/drawing/2014/main" id="{684F7663-EF5B-4BF4-9690-1E4E7A9BA933}"/>
              </a:ext>
            </a:extLst>
          </p:cNvPr>
          <p:cNvPicPr>
            <a:picLocks noGrp="1" noChangeAspect="1"/>
          </p:cNvPicPr>
          <p:nvPr>
            <p:ph idx="1"/>
          </p:nvPr>
        </p:nvPicPr>
        <p:blipFill>
          <a:blip r:embed="rId2"/>
          <a:stretch>
            <a:fillRect/>
          </a:stretch>
        </p:blipFill>
        <p:spPr>
          <a:xfrm>
            <a:off x="2367198" y="2097088"/>
            <a:ext cx="7454427" cy="4191069"/>
          </a:xfrm>
        </p:spPr>
      </p:pic>
    </p:spTree>
    <p:extLst>
      <p:ext uri="{BB962C8B-B14F-4D97-AF65-F5344CB8AC3E}">
        <p14:creationId xmlns:p14="http://schemas.microsoft.com/office/powerpoint/2010/main" val="3586455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518C6-11DA-492B-A0F3-9EEA57DCB757}"/>
              </a:ext>
            </a:extLst>
          </p:cNvPr>
          <p:cNvSpPr>
            <a:spLocks noGrp="1"/>
          </p:cNvSpPr>
          <p:nvPr>
            <p:ph type="title"/>
          </p:nvPr>
        </p:nvSpPr>
        <p:spPr/>
        <p:txBody>
          <a:bodyPr>
            <a:normAutofit/>
          </a:bodyPr>
          <a:lstStyle/>
          <a:p>
            <a:r>
              <a:rPr lang="en-US" sz="2400" cap="none" dirty="0" err="1">
                <a:latin typeface="JetBrains Mono" panose="02000009000000000000" pitchFamily="49" charset="0"/>
                <a:cs typeface="JetBrains Mono" panose="02000009000000000000" pitchFamily="49" charset="0"/>
              </a:rPr>
              <a:t>jika</a:t>
            </a:r>
            <a:r>
              <a:rPr lang="en-US" sz="2400" cap="none" dirty="0">
                <a:latin typeface="JetBrains Mono" panose="02000009000000000000" pitchFamily="49" charset="0"/>
                <a:cs typeface="JetBrains Mono" panose="02000009000000000000" pitchFamily="49" charset="0"/>
              </a:rPr>
              <a:t> class </a:t>
            </a:r>
            <a:r>
              <a:rPr lang="en-US" sz="2400" cap="none" dirty="0">
                <a:solidFill>
                  <a:srgbClr val="FF0000"/>
                </a:solidFill>
                <a:latin typeface="JetBrains Mono" panose="02000009000000000000" pitchFamily="49" charset="0"/>
                <a:cs typeface="JetBrains Mono" panose="02000009000000000000" pitchFamily="49" charset="0"/>
              </a:rPr>
              <a:t>container</a:t>
            </a:r>
            <a:r>
              <a:rPr lang="en-US" sz="2400" cap="none" dirty="0">
                <a:latin typeface="JetBrains Mono" panose="02000009000000000000" pitchFamily="49" charset="0"/>
                <a:cs typeface="JetBrains Mono" panose="02000009000000000000" pitchFamily="49" charset="0"/>
              </a:rPr>
              <a:t> </a:t>
            </a:r>
            <a:r>
              <a:rPr lang="en-US" sz="2400" cap="none" dirty="0" err="1">
                <a:latin typeface="JetBrains Mono" panose="02000009000000000000" pitchFamily="49" charset="0"/>
                <a:cs typeface="JetBrains Mono" panose="02000009000000000000" pitchFamily="49" charset="0"/>
              </a:rPr>
              <a:t>dihapus</a:t>
            </a:r>
            <a:endParaRPr lang="id-ID" sz="2400" cap="none" dirty="0">
              <a:latin typeface="JetBrains Mono" panose="02000009000000000000" pitchFamily="49" charset="0"/>
              <a:cs typeface="JetBrains Mono" panose="02000009000000000000" pitchFamily="49" charset="0"/>
            </a:endParaRPr>
          </a:p>
        </p:txBody>
      </p:sp>
      <p:pic>
        <p:nvPicPr>
          <p:cNvPr id="5" name="Content Placeholder 4">
            <a:extLst>
              <a:ext uri="{FF2B5EF4-FFF2-40B4-BE49-F238E27FC236}">
                <a16:creationId xmlns:a16="http://schemas.microsoft.com/office/drawing/2014/main" id="{E209E718-C535-4C22-9FC4-9055D5A62AE2}"/>
              </a:ext>
            </a:extLst>
          </p:cNvPr>
          <p:cNvPicPr>
            <a:picLocks noGrp="1" noChangeAspect="1"/>
          </p:cNvPicPr>
          <p:nvPr>
            <p:ph idx="1"/>
          </p:nvPr>
        </p:nvPicPr>
        <p:blipFill>
          <a:blip r:embed="rId2"/>
          <a:stretch>
            <a:fillRect/>
          </a:stretch>
        </p:blipFill>
        <p:spPr>
          <a:xfrm>
            <a:off x="2131489" y="2097088"/>
            <a:ext cx="7925845" cy="4456112"/>
          </a:xfrm>
        </p:spPr>
      </p:pic>
    </p:spTree>
    <p:extLst>
      <p:ext uri="{BB962C8B-B14F-4D97-AF65-F5344CB8AC3E}">
        <p14:creationId xmlns:p14="http://schemas.microsoft.com/office/powerpoint/2010/main" val="105755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326E32-A208-410B-B926-9D6EA8A8CF82}"/>
              </a:ext>
            </a:extLst>
          </p:cNvPr>
          <p:cNvSpPr>
            <a:spLocks noGrp="1"/>
          </p:cNvSpPr>
          <p:nvPr>
            <p:ph idx="1"/>
          </p:nvPr>
        </p:nvSpPr>
        <p:spPr>
          <a:xfrm>
            <a:off x="1143000" y="659229"/>
            <a:ext cx="9905999" cy="1620145"/>
          </a:xfrm>
        </p:spPr>
        <p:txBody>
          <a:bodyPr>
            <a:normAutofit/>
          </a:bodyPr>
          <a:lstStyle/>
          <a:p>
            <a:pPr marL="0" indent="0" algn="just">
              <a:buNone/>
            </a:pPr>
            <a:r>
              <a:rPr lang="id-ID" sz="2000" dirty="0">
                <a:latin typeface="JetBrains Mono" panose="02000009000000000000" pitchFamily="49" charset="0"/>
                <a:cs typeface="JetBrains Mono" panose="02000009000000000000" pitchFamily="49" charset="0"/>
              </a:rPr>
              <a:t>Blok </a:t>
            </a:r>
            <a:r>
              <a:rPr lang="id-ID" sz="2000" dirty="0">
                <a:solidFill>
                  <a:schemeClr val="bg1"/>
                </a:solidFill>
                <a:latin typeface="JetBrains Mono" panose="02000009000000000000" pitchFamily="49" charset="0"/>
                <a:cs typeface="JetBrains Mono" panose="02000009000000000000" pitchFamily="49" charset="0"/>
              </a:rPr>
              <a:t>header</a:t>
            </a:r>
            <a:r>
              <a:rPr lang="id-ID" sz="2000" dirty="0">
                <a:latin typeface="JetBrains Mono" panose="02000009000000000000" pitchFamily="49" charset="0"/>
                <a:cs typeface="JetBrains Mono" panose="02000009000000000000" pitchFamily="49" charset="0"/>
              </a:rPr>
              <a:t> tidak menggunakan </a:t>
            </a:r>
            <a:r>
              <a:rPr lang="id-ID" sz="2000" dirty="0">
                <a:solidFill>
                  <a:srgbClr val="FF0000"/>
                </a:solidFill>
                <a:latin typeface="JetBrains Mono" panose="02000009000000000000" pitchFamily="49" charset="0"/>
                <a:cs typeface="JetBrains Mono" panose="02000009000000000000" pitchFamily="49" charset="0"/>
              </a:rPr>
              <a:t>container</a:t>
            </a:r>
            <a:r>
              <a:rPr lang="id-ID" sz="2000" dirty="0">
                <a:latin typeface="JetBrains Mono" panose="02000009000000000000" pitchFamily="49" charset="0"/>
                <a:cs typeface="JetBrains Mono" panose="02000009000000000000" pitchFamily="49" charset="0"/>
              </a:rPr>
              <a:t>, sekilas terlihat seperti menggunakan class </a:t>
            </a:r>
            <a:r>
              <a:rPr lang="id-ID" sz="2000" dirty="0">
                <a:solidFill>
                  <a:srgbClr val="FF0000"/>
                </a:solidFill>
                <a:latin typeface="JetBrains Mono" panose="02000009000000000000" pitchFamily="49" charset="0"/>
                <a:cs typeface="JetBrains Mono" panose="02000009000000000000" pitchFamily="49" charset="0"/>
              </a:rPr>
              <a:t>container-fluid</a:t>
            </a:r>
            <a:r>
              <a:rPr lang="id-ID" sz="2000" dirty="0">
                <a:latin typeface="JetBrains Mono" panose="02000009000000000000" pitchFamily="49" charset="0"/>
                <a:cs typeface="JetBrains Mono" panose="02000009000000000000" pitchFamily="49" charset="0"/>
              </a:rPr>
              <a:t>. Namun, sebenarnya berbeda. Berikut ini tampilan blok </a:t>
            </a:r>
            <a:r>
              <a:rPr lang="id-ID" sz="2000" dirty="0">
                <a:solidFill>
                  <a:schemeClr val="bg1">
                    <a:lumMod val="95000"/>
                    <a:lumOff val="5000"/>
                  </a:schemeClr>
                </a:solidFill>
                <a:latin typeface="JetBrains Mono" panose="02000009000000000000" pitchFamily="49" charset="0"/>
                <a:cs typeface="JetBrains Mono" panose="02000009000000000000" pitchFamily="49" charset="0"/>
              </a:rPr>
              <a:t>header</a:t>
            </a:r>
            <a:r>
              <a:rPr lang="id-ID" sz="2000" dirty="0">
                <a:latin typeface="JetBrains Mono" panose="02000009000000000000" pitchFamily="49" charset="0"/>
                <a:cs typeface="JetBrains Mono" panose="02000009000000000000" pitchFamily="49" charset="0"/>
              </a:rPr>
              <a:t> yang menggunakan class </a:t>
            </a:r>
            <a:r>
              <a:rPr lang="id-ID" sz="2000" dirty="0">
                <a:solidFill>
                  <a:srgbClr val="FF0000"/>
                </a:solidFill>
                <a:latin typeface="JetBrains Mono" panose="02000009000000000000" pitchFamily="49" charset="0"/>
                <a:cs typeface="JetBrains Mono" panose="02000009000000000000" pitchFamily="49" charset="0"/>
              </a:rPr>
              <a:t>container-fluid</a:t>
            </a:r>
            <a:r>
              <a:rPr lang="id-ID" sz="2000" dirty="0">
                <a:latin typeface="JetBrains Mono" panose="02000009000000000000" pitchFamily="49" charset="0"/>
                <a:cs typeface="JetBrains Mono" panose="02000009000000000000" pitchFamily="49" charset="0"/>
              </a:rPr>
              <a:t>.</a:t>
            </a:r>
          </a:p>
        </p:txBody>
      </p:sp>
      <p:pic>
        <p:nvPicPr>
          <p:cNvPr id="5" name="Picture 4">
            <a:extLst>
              <a:ext uri="{FF2B5EF4-FFF2-40B4-BE49-F238E27FC236}">
                <a16:creationId xmlns:a16="http://schemas.microsoft.com/office/drawing/2014/main" id="{5746BA9F-D8CA-4A42-9011-F9722FD35564}"/>
              </a:ext>
            </a:extLst>
          </p:cNvPr>
          <p:cNvPicPr>
            <a:picLocks noChangeAspect="1"/>
          </p:cNvPicPr>
          <p:nvPr/>
        </p:nvPicPr>
        <p:blipFill>
          <a:blip r:embed="rId2"/>
          <a:stretch>
            <a:fillRect/>
          </a:stretch>
        </p:blipFill>
        <p:spPr>
          <a:xfrm>
            <a:off x="2305876" y="2279374"/>
            <a:ext cx="7580245" cy="4261807"/>
          </a:xfrm>
          <a:prstGeom prst="rect">
            <a:avLst/>
          </a:prstGeom>
        </p:spPr>
      </p:pic>
    </p:spTree>
    <p:extLst>
      <p:ext uri="{BB962C8B-B14F-4D97-AF65-F5344CB8AC3E}">
        <p14:creationId xmlns:p14="http://schemas.microsoft.com/office/powerpoint/2010/main" val="782846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ABD465-CC5D-471D-9119-64FBC22FBF0A}"/>
              </a:ext>
            </a:extLst>
          </p:cNvPr>
          <p:cNvSpPr>
            <a:spLocks noGrp="1"/>
          </p:cNvSpPr>
          <p:nvPr>
            <p:ph idx="1"/>
          </p:nvPr>
        </p:nvSpPr>
        <p:spPr>
          <a:xfrm>
            <a:off x="1143000" y="2254489"/>
            <a:ext cx="9905999" cy="2349021"/>
          </a:xfrm>
        </p:spPr>
        <p:txBody>
          <a:bodyPr/>
          <a:lstStyle/>
          <a:p>
            <a:pPr marL="0" indent="0" algn="just">
              <a:buNone/>
            </a:pPr>
            <a:r>
              <a:rPr lang="id-ID" dirty="0">
                <a:latin typeface="JetBrains Mono" panose="02000009000000000000" pitchFamily="49" charset="0"/>
                <a:cs typeface="JetBrains Mono" panose="02000009000000000000" pitchFamily="49" charset="0"/>
              </a:rPr>
              <a:t>Class </a:t>
            </a:r>
            <a:r>
              <a:rPr lang="id-ID" dirty="0">
                <a:solidFill>
                  <a:srgbClr val="FF0000"/>
                </a:solidFill>
                <a:latin typeface="JetBrains Mono" panose="02000009000000000000" pitchFamily="49" charset="0"/>
                <a:cs typeface="JetBrains Mono" panose="02000009000000000000" pitchFamily="49" charset="0"/>
              </a:rPr>
              <a:t>container-fluid</a:t>
            </a:r>
            <a:r>
              <a:rPr lang="id-ID" dirty="0">
                <a:latin typeface="JetBrains Mono" panose="02000009000000000000" pitchFamily="49" charset="0"/>
                <a:cs typeface="JetBrains Mono" panose="02000009000000000000" pitchFamily="49" charset="0"/>
              </a:rPr>
              <a:t> adalah class </a:t>
            </a:r>
            <a:r>
              <a:rPr lang="en-US" dirty="0">
                <a:solidFill>
                  <a:srgbClr val="FF0000"/>
                </a:solidFill>
                <a:latin typeface="JetBrains Mono" panose="02000009000000000000" pitchFamily="49" charset="0"/>
                <a:cs typeface="JetBrains Mono" panose="02000009000000000000" pitchFamily="49" charset="0"/>
              </a:rPr>
              <a:t>c</a:t>
            </a:r>
            <a:r>
              <a:rPr lang="id-ID" dirty="0">
                <a:solidFill>
                  <a:srgbClr val="FF0000"/>
                </a:solidFill>
                <a:latin typeface="JetBrains Mono" panose="02000009000000000000" pitchFamily="49" charset="0"/>
                <a:cs typeface="JetBrains Mono" panose="02000009000000000000" pitchFamily="49" charset="0"/>
              </a:rPr>
              <a:t>ontainer</a:t>
            </a:r>
            <a:r>
              <a:rPr lang="id-ID" dirty="0">
                <a:latin typeface="JetBrains Mono" panose="02000009000000000000" pitchFamily="49" charset="0"/>
                <a:cs typeface="JetBrains Mono" panose="02000009000000000000" pitchFamily="49" charset="0"/>
              </a:rPr>
              <a:t> yang ukurannya 100% di semua ukuran layar. Nah, setelah kita mengetahui blok dasar dari layout yakni container, berikutnya kita akan pelajari class </a:t>
            </a:r>
            <a:r>
              <a:rPr lang="id-ID" dirty="0">
                <a:solidFill>
                  <a:schemeClr val="bg1"/>
                </a:solidFill>
                <a:latin typeface="JetBrains Mono" panose="02000009000000000000" pitchFamily="49" charset="0"/>
                <a:cs typeface="JetBrains Mono" panose="02000009000000000000" pitchFamily="49" charset="0"/>
              </a:rPr>
              <a:t>row</a:t>
            </a:r>
            <a:r>
              <a:rPr lang="id-ID" dirty="0">
                <a:latin typeface="JetBrains Mono" panose="02000009000000000000" pitchFamily="49" charset="0"/>
                <a:cs typeface="JetBrains Mono" panose="02000009000000000000" pitchFamily="49" charset="0"/>
              </a:rPr>
              <a:t> dan </a:t>
            </a:r>
            <a:r>
              <a:rPr lang="id-ID" dirty="0">
                <a:solidFill>
                  <a:schemeClr val="accent3">
                    <a:lumMod val="75000"/>
                  </a:schemeClr>
                </a:solidFill>
                <a:latin typeface="JetBrains Mono" panose="02000009000000000000" pitchFamily="49" charset="0"/>
                <a:cs typeface="JetBrains Mono" panose="02000009000000000000" pitchFamily="49" charset="0"/>
              </a:rPr>
              <a:t>col</a:t>
            </a:r>
            <a:r>
              <a:rPr lang="id-ID" dirty="0">
                <a:latin typeface="JetBrains Mono" panose="02000009000000000000" pitchFamily="49" charset="0"/>
                <a:cs typeface="JetBrains Mono" panose="02000009000000000000" pitchFamily="49" charset="0"/>
              </a:rPr>
              <a:t>.</a:t>
            </a:r>
          </a:p>
        </p:txBody>
      </p:sp>
    </p:spTree>
    <p:extLst>
      <p:ext uri="{BB962C8B-B14F-4D97-AF65-F5344CB8AC3E}">
        <p14:creationId xmlns:p14="http://schemas.microsoft.com/office/powerpoint/2010/main" val="525117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05233-DAB8-463B-9337-E44C9B8A04A9}"/>
              </a:ext>
            </a:extLst>
          </p:cNvPr>
          <p:cNvSpPr>
            <a:spLocks noGrp="1"/>
          </p:cNvSpPr>
          <p:nvPr>
            <p:ph type="title"/>
          </p:nvPr>
        </p:nvSpPr>
        <p:spPr>
          <a:xfrm>
            <a:off x="1141413" y="618518"/>
            <a:ext cx="9905998" cy="865725"/>
          </a:xfrm>
        </p:spPr>
        <p:txBody>
          <a:bodyPr/>
          <a:lstStyle/>
          <a:p>
            <a:r>
              <a:rPr lang="en-US" cap="none" dirty="0">
                <a:latin typeface="JetBrains Mono" panose="02000009000000000000" pitchFamily="49" charset="0"/>
                <a:cs typeface="JetBrains Mono" panose="02000009000000000000" pitchFamily="49" charset="0"/>
              </a:rPr>
              <a:t>class </a:t>
            </a:r>
            <a:r>
              <a:rPr lang="en-US" cap="none" dirty="0">
                <a:solidFill>
                  <a:schemeClr val="bg1"/>
                </a:solidFill>
                <a:latin typeface="JetBrains Mono" panose="02000009000000000000" pitchFamily="49" charset="0"/>
                <a:cs typeface="JetBrains Mono" panose="02000009000000000000" pitchFamily="49" charset="0"/>
              </a:rPr>
              <a:t>row</a:t>
            </a:r>
            <a:r>
              <a:rPr lang="en-US" cap="none" dirty="0">
                <a:latin typeface="JetBrains Mono" panose="02000009000000000000" pitchFamily="49" charset="0"/>
                <a:cs typeface="JetBrains Mono" panose="02000009000000000000" pitchFamily="49" charset="0"/>
              </a:rPr>
              <a:t> dan </a:t>
            </a:r>
            <a:r>
              <a:rPr lang="en-US" cap="none" dirty="0">
                <a:solidFill>
                  <a:schemeClr val="accent3">
                    <a:lumMod val="75000"/>
                  </a:schemeClr>
                </a:solidFill>
                <a:latin typeface="JetBrains Mono" panose="02000009000000000000" pitchFamily="49" charset="0"/>
                <a:cs typeface="JetBrains Mono" panose="02000009000000000000" pitchFamily="49" charset="0"/>
              </a:rPr>
              <a:t>col</a:t>
            </a:r>
            <a:endParaRPr lang="id-ID" cap="none" dirty="0">
              <a:solidFill>
                <a:schemeClr val="accent3">
                  <a:lumMod val="75000"/>
                </a:schemeClr>
              </a:solidFill>
              <a:latin typeface="JetBrains Mono" panose="02000009000000000000" pitchFamily="49" charset="0"/>
              <a:cs typeface="JetBrains Mono" panose="02000009000000000000" pitchFamily="49" charset="0"/>
            </a:endParaRPr>
          </a:p>
        </p:txBody>
      </p:sp>
      <p:sp>
        <p:nvSpPr>
          <p:cNvPr id="3" name="Content Placeholder 2">
            <a:extLst>
              <a:ext uri="{FF2B5EF4-FFF2-40B4-BE49-F238E27FC236}">
                <a16:creationId xmlns:a16="http://schemas.microsoft.com/office/drawing/2014/main" id="{E1CDB0F9-40E2-4BAA-9169-EB77ECFC48F5}"/>
              </a:ext>
            </a:extLst>
          </p:cNvPr>
          <p:cNvSpPr>
            <a:spLocks noGrp="1"/>
          </p:cNvSpPr>
          <p:nvPr>
            <p:ph idx="1"/>
          </p:nvPr>
        </p:nvSpPr>
        <p:spPr>
          <a:xfrm>
            <a:off x="1141413" y="1484243"/>
            <a:ext cx="9905999" cy="3541714"/>
          </a:xfrm>
        </p:spPr>
        <p:txBody>
          <a:bodyPr>
            <a:normAutofit/>
          </a:bodyPr>
          <a:lstStyle/>
          <a:p>
            <a:pPr marL="0" indent="0" algn="just">
              <a:buNone/>
            </a:pPr>
            <a:r>
              <a:rPr lang="id-ID" sz="1800" dirty="0">
                <a:latin typeface="JetBrains Mono" panose="02000009000000000000" pitchFamily="49" charset="0"/>
                <a:cs typeface="JetBrains Mono" panose="02000009000000000000" pitchFamily="49" charset="0"/>
              </a:rPr>
              <a:t>Class row dan col merupakan class untuk membuat baris dan kolom. Kedua class ini lah yang kita gunakan untuk membuat grid. Class row berfungsi untuk membuat baris. Class ini menggunakan </a:t>
            </a:r>
            <a:r>
              <a:rPr lang="id-ID" sz="1800" dirty="0">
                <a:solidFill>
                  <a:schemeClr val="bg1"/>
                </a:solidFill>
                <a:latin typeface="JetBrains Mono" panose="02000009000000000000" pitchFamily="49" charset="0"/>
                <a:cs typeface="JetBrains Mono" panose="02000009000000000000" pitchFamily="49" charset="0"/>
              </a:rPr>
              <a:t>flex</a:t>
            </a:r>
            <a:r>
              <a:rPr lang="id-ID" sz="1800" dirty="0">
                <a:latin typeface="JetBrains Mono" panose="02000009000000000000" pitchFamily="49" charset="0"/>
                <a:cs typeface="JetBrains Mono" panose="02000009000000000000" pitchFamily="49" charset="0"/>
              </a:rPr>
              <a:t>, namun </a:t>
            </a:r>
            <a:r>
              <a:rPr lang="id-ID" sz="1800" dirty="0">
                <a:solidFill>
                  <a:srgbClr val="FF0000"/>
                </a:solidFill>
                <a:latin typeface="JetBrains Mono" panose="02000009000000000000" pitchFamily="49" charset="0"/>
                <a:cs typeface="JetBrains Mono" panose="02000009000000000000" pitchFamily="49" charset="0"/>
              </a:rPr>
              <a:t>breakpoint</a:t>
            </a:r>
            <a:r>
              <a:rPr lang="id-ID" sz="1800" dirty="0">
                <a:latin typeface="JetBrains Mono" panose="02000009000000000000" pitchFamily="49" charset="0"/>
                <a:cs typeface="JetBrains Mono" panose="02000009000000000000" pitchFamily="49" charset="0"/>
              </a:rPr>
              <a:t> tidak berlaku untuk class ini.</a:t>
            </a:r>
          </a:p>
          <a:p>
            <a:pPr marL="0" indent="0" algn="just">
              <a:buNone/>
            </a:pPr>
            <a:r>
              <a:rPr lang="id-ID" sz="1800" dirty="0">
                <a:latin typeface="JetBrains Mono" panose="02000009000000000000" pitchFamily="49" charset="0"/>
                <a:cs typeface="JetBrains Mono" panose="02000009000000000000" pitchFamily="49" charset="0"/>
              </a:rPr>
              <a:t>Contoh penggunaan:</a:t>
            </a:r>
            <a:endParaRPr lang="en-US" sz="1800" dirty="0">
              <a:latin typeface="JetBrains Mono" panose="02000009000000000000" pitchFamily="49" charset="0"/>
              <a:cs typeface="JetBrains Mono" panose="02000009000000000000" pitchFamily="49" charset="0"/>
            </a:endParaRPr>
          </a:p>
          <a:p>
            <a:pPr marL="0" indent="0" algn="just">
              <a:buNone/>
            </a:pPr>
            <a:r>
              <a:rPr lang="id-ID" sz="1800" dirty="0">
                <a:latin typeface="JetBrains Mono" panose="02000009000000000000" pitchFamily="49" charset="0"/>
                <a:cs typeface="JetBrains Mono" panose="02000009000000000000" pitchFamily="49" charset="0"/>
              </a:rPr>
              <a:t>&lt;div class="</a:t>
            </a:r>
            <a:r>
              <a:rPr lang="id-ID" sz="1800" dirty="0">
                <a:solidFill>
                  <a:schemeClr val="bg1"/>
                </a:solidFill>
                <a:latin typeface="JetBrains Mono" panose="02000009000000000000" pitchFamily="49" charset="0"/>
                <a:cs typeface="JetBrains Mono" panose="02000009000000000000" pitchFamily="49" charset="0"/>
              </a:rPr>
              <a:t>row</a:t>
            </a:r>
            <a:r>
              <a:rPr lang="id-ID" sz="1800" dirty="0">
                <a:latin typeface="JetBrains Mono" panose="02000009000000000000" pitchFamily="49" charset="0"/>
                <a:cs typeface="JetBrains Mono" panose="02000009000000000000" pitchFamily="49" charset="0"/>
              </a:rPr>
              <a:t>"&gt;</a:t>
            </a:r>
          </a:p>
          <a:p>
            <a:pPr marL="0" indent="0" algn="just">
              <a:buNone/>
            </a:pPr>
            <a:endParaRPr lang="id-ID" sz="1800" dirty="0">
              <a:latin typeface="JetBrains Mono" panose="02000009000000000000" pitchFamily="49" charset="0"/>
              <a:cs typeface="JetBrains Mono" panose="02000009000000000000" pitchFamily="49" charset="0"/>
            </a:endParaRPr>
          </a:p>
          <a:p>
            <a:pPr marL="0" indent="0" algn="just">
              <a:buNone/>
            </a:pPr>
            <a:r>
              <a:rPr lang="id-ID" sz="1800" dirty="0">
                <a:latin typeface="JetBrains Mono" panose="02000009000000000000" pitchFamily="49" charset="0"/>
                <a:cs typeface="JetBrains Mono" panose="02000009000000000000" pitchFamily="49" charset="0"/>
              </a:rPr>
              <a:t>&lt;/div&gt;</a:t>
            </a:r>
          </a:p>
        </p:txBody>
      </p:sp>
    </p:spTree>
    <p:extLst>
      <p:ext uri="{BB962C8B-B14F-4D97-AF65-F5344CB8AC3E}">
        <p14:creationId xmlns:p14="http://schemas.microsoft.com/office/powerpoint/2010/main" val="2509233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B42154-3462-43D1-AD72-2235B2763736}"/>
              </a:ext>
            </a:extLst>
          </p:cNvPr>
          <p:cNvSpPr>
            <a:spLocks noGrp="1"/>
          </p:cNvSpPr>
          <p:nvPr>
            <p:ph idx="1"/>
          </p:nvPr>
        </p:nvSpPr>
        <p:spPr>
          <a:xfrm>
            <a:off x="1143000" y="579713"/>
            <a:ext cx="9905999" cy="5754826"/>
          </a:xfrm>
        </p:spPr>
        <p:txBody>
          <a:bodyPr>
            <a:normAutofit/>
          </a:bodyPr>
          <a:lstStyle/>
          <a:p>
            <a:pPr marL="0" indent="0" algn="just">
              <a:buNone/>
            </a:pPr>
            <a:r>
              <a:rPr lang="id-ID" dirty="0">
                <a:latin typeface="JetBrains Mono" panose="02000009000000000000" pitchFamily="49" charset="0"/>
                <a:cs typeface="JetBrains Mono" panose="02000009000000000000" pitchFamily="49" charset="0"/>
              </a:rPr>
              <a:t>Class </a:t>
            </a:r>
            <a:r>
              <a:rPr lang="id-ID" dirty="0">
                <a:solidFill>
                  <a:schemeClr val="accent3">
                    <a:lumMod val="75000"/>
                  </a:schemeClr>
                </a:solidFill>
                <a:latin typeface="JetBrains Mono" panose="02000009000000000000" pitchFamily="49" charset="0"/>
                <a:cs typeface="JetBrains Mono" panose="02000009000000000000" pitchFamily="49" charset="0"/>
              </a:rPr>
              <a:t>col</a:t>
            </a:r>
            <a:r>
              <a:rPr lang="id-ID" dirty="0">
                <a:latin typeface="JetBrains Mono" panose="02000009000000000000" pitchFamily="49" charset="0"/>
                <a:cs typeface="JetBrains Mono" panose="02000009000000000000" pitchFamily="49" charset="0"/>
              </a:rPr>
              <a:t> berfungsi untuk membuat </a:t>
            </a:r>
            <a:r>
              <a:rPr lang="id-ID" dirty="0">
                <a:solidFill>
                  <a:schemeClr val="accent3">
                    <a:lumMod val="75000"/>
                  </a:schemeClr>
                </a:solidFill>
                <a:latin typeface="JetBrains Mono" panose="02000009000000000000" pitchFamily="49" charset="0"/>
                <a:cs typeface="JetBrains Mono" panose="02000009000000000000" pitchFamily="49" charset="0"/>
              </a:rPr>
              <a:t>kolom</a:t>
            </a:r>
            <a:r>
              <a:rPr lang="id-ID" dirty="0">
                <a:latin typeface="JetBrains Mono" panose="02000009000000000000" pitchFamily="49" charset="0"/>
                <a:cs typeface="JetBrains Mono" panose="02000009000000000000" pitchFamily="49" charset="0"/>
              </a:rPr>
              <a:t>. Class ini harus dibungkus oleh class </a:t>
            </a:r>
            <a:r>
              <a:rPr lang="id-ID" dirty="0">
                <a:solidFill>
                  <a:schemeClr val="bg1"/>
                </a:solidFill>
                <a:latin typeface="JetBrains Mono" panose="02000009000000000000" pitchFamily="49" charset="0"/>
                <a:cs typeface="JetBrains Mono" panose="02000009000000000000" pitchFamily="49" charset="0"/>
              </a:rPr>
              <a:t>row</a:t>
            </a:r>
            <a:r>
              <a:rPr lang="id-ID" dirty="0">
                <a:latin typeface="JetBrains Mono" panose="02000009000000000000" pitchFamily="49" charset="0"/>
                <a:cs typeface="JetBrains Mono" panose="02000009000000000000" pitchFamily="49" charset="0"/>
              </a:rPr>
              <a:t> agar menjadi grid. Class </a:t>
            </a:r>
            <a:r>
              <a:rPr lang="id-ID" dirty="0">
                <a:solidFill>
                  <a:schemeClr val="accent3">
                    <a:lumMod val="75000"/>
                  </a:schemeClr>
                </a:solidFill>
                <a:latin typeface="JetBrains Mono" panose="02000009000000000000" pitchFamily="49" charset="0"/>
                <a:cs typeface="JetBrains Mono" panose="02000009000000000000" pitchFamily="49" charset="0"/>
              </a:rPr>
              <a:t>col</a:t>
            </a:r>
            <a:r>
              <a:rPr lang="id-ID" dirty="0">
                <a:latin typeface="JetBrains Mono" panose="02000009000000000000" pitchFamily="49" charset="0"/>
                <a:cs typeface="JetBrains Mono" panose="02000009000000000000" pitchFamily="49" charset="0"/>
              </a:rPr>
              <a:t> memiliki </a:t>
            </a:r>
            <a:r>
              <a:rPr lang="id-ID" dirty="0">
                <a:solidFill>
                  <a:schemeClr val="accent3">
                    <a:lumMod val="75000"/>
                  </a:schemeClr>
                </a:solidFill>
                <a:latin typeface="JetBrains Mono" panose="02000009000000000000" pitchFamily="49" charset="0"/>
                <a:cs typeface="JetBrains Mono" panose="02000009000000000000" pitchFamily="49" charset="0"/>
              </a:rPr>
              <a:t>ukuran</a:t>
            </a:r>
            <a:r>
              <a:rPr lang="id-ID" dirty="0">
                <a:latin typeface="JetBrains Mono" panose="02000009000000000000" pitchFamily="49" charset="0"/>
                <a:cs typeface="JetBrains Mono" panose="02000009000000000000" pitchFamily="49" charset="0"/>
              </a:rPr>
              <a:t> dan </a:t>
            </a:r>
            <a:r>
              <a:rPr lang="id-ID" dirty="0">
                <a:solidFill>
                  <a:srgbClr val="FF0000"/>
                </a:solidFill>
                <a:latin typeface="JetBrains Mono" panose="02000009000000000000" pitchFamily="49" charset="0"/>
                <a:cs typeface="JetBrains Mono" panose="02000009000000000000" pitchFamily="49" charset="0"/>
              </a:rPr>
              <a:t>breakpoint</a:t>
            </a:r>
            <a:r>
              <a:rPr lang="id-ID" dirty="0">
                <a:latin typeface="JetBrains Mono" panose="02000009000000000000" pitchFamily="49" charset="0"/>
                <a:cs typeface="JetBrains Mono" panose="02000009000000000000" pitchFamily="49" charset="0"/>
              </a:rPr>
              <a:t>. Ukuran paling panjang adalah 12, dan ukuran paling pendek adalah 1.</a:t>
            </a:r>
          </a:p>
          <a:p>
            <a:pPr marL="0" indent="0" algn="just">
              <a:buNone/>
            </a:pPr>
            <a:r>
              <a:rPr lang="id-ID" dirty="0">
                <a:latin typeface="JetBrains Mono" panose="02000009000000000000" pitchFamily="49" charset="0"/>
                <a:cs typeface="JetBrains Mono" panose="02000009000000000000" pitchFamily="49" charset="0"/>
              </a:rPr>
              <a:t>Format penulisannya:</a:t>
            </a:r>
          </a:p>
          <a:p>
            <a:pPr marL="0" indent="0" algn="just">
              <a:buNone/>
            </a:pPr>
            <a:endParaRPr lang="id-ID" dirty="0">
              <a:latin typeface="JetBrains Mono" panose="02000009000000000000" pitchFamily="49" charset="0"/>
              <a:cs typeface="JetBrains Mono" panose="02000009000000000000" pitchFamily="49" charset="0"/>
            </a:endParaRPr>
          </a:p>
          <a:p>
            <a:pPr marL="0" indent="0" algn="just">
              <a:buNone/>
            </a:pPr>
            <a:r>
              <a:rPr lang="id-ID" dirty="0">
                <a:solidFill>
                  <a:schemeClr val="accent3">
                    <a:lumMod val="75000"/>
                  </a:schemeClr>
                </a:solidFill>
                <a:latin typeface="JetBrains Mono" panose="02000009000000000000" pitchFamily="49" charset="0"/>
                <a:cs typeface="JetBrains Mono" panose="02000009000000000000" pitchFamily="49" charset="0"/>
              </a:rPr>
              <a:t>col</a:t>
            </a:r>
            <a:r>
              <a:rPr lang="id-ID" dirty="0">
                <a:latin typeface="JetBrains Mono" panose="02000009000000000000" pitchFamily="49" charset="0"/>
                <a:cs typeface="JetBrains Mono" panose="02000009000000000000" pitchFamily="49" charset="0"/>
              </a:rPr>
              <a:t>-[</a:t>
            </a:r>
            <a:r>
              <a:rPr lang="id-ID" dirty="0">
                <a:solidFill>
                  <a:srgbClr val="FF0000"/>
                </a:solidFill>
                <a:latin typeface="JetBrains Mono" panose="02000009000000000000" pitchFamily="49" charset="0"/>
                <a:cs typeface="JetBrains Mono" panose="02000009000000000000" pitchFamily="49" charset="0"/>
              </a:rPr>
              <a:t>breakpoint</a:t>
            </a:r>
            <a:r>
              <a:rPr lang="id-ID" dirty="0">
                <a:latin typeface="JetBrains Mono" panose="02000009000000000000" pitchFamily="49" charset="0"/>
                <a:cs typeface="JetBrains Mono" panose="02000009000000000000" pitchFamily="49" charset="0"/>
              </a:rPr>
              <a:t>]-[</a:t>
            </a:r>
            <a:r>
              <a:rPr lang="id-ID" dirty="0">
                <a:solidFill>
                  <a:schemeClr val="accent3">
                    <a:lumMod val="75000"/>
                  </a:schemeClr>
                </a:solidFill>
                <a:latin typeface="JetBrains Mono" panose="02000009000000000000" pitchFamily="49" charset="0"/>
                <a:cs typeface="JetBrains Mono" panose="02000009000000000000" pitchFamily="49" charset="0"/>
              </a:rPr>
              <a:t>ukuran</a:t>
            </a:r>
            <a:r>
              <a:rPr lang="id-ID" dirty="0">
                <a:latin typeface="JetBrains Mono" panose="02000009000000000000" pitchFamily="49" charset="0"/>
                <a:cs typeface="JetBrains Mono" panose="02000009000000000000" pitchFamily="49" charset="0"/>
              </a:rPr>
              <a:t>]</a:t>
            </a:r>
          </a:p>
        </p:txBody>
      </p:sp>
    </p:spTree>
    <p:extLst>
      <p:ext uri="{BB962C8B-B14F-4D97-AF65-F5344CB8AC3E}">
        <p14:creationId xmlns:p14="http://schemas.microsoft.com/office/powerpoint/2010/main" val="843127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C016F-4137-4A61-934E-F08ED319DFC3}"/>
              </a:ext>
            </a:extLst>
          </p:cNvPr>
          <p:cNvSpPr>
            <a:spLocks noGrp="1"/>
          </p:cNvSpPr>
          <p:nvPr>
            <p:ph type="title"/>
          </p:nvPr>
        </p:nvSpPr>
        <p:spPr>
          <a:xfrm>
            <a:off x="1141413" y="618518"/>
            <a:ext cx="9905998" cy="448281"/>
          </a:xfrm>
        </p:spPr>
        <p:txBody>
          <a:bodyPr>
            <a:noAutofit/>
          </a:bodyPr>
          <a:lstStyle/>
          <a:p>
            <a:r>
              <a:rPr lang="en-US" sz="2400" cap="none" dirty="0" err="1">
                <a:latin typeface="JetBrains Mono" panose="02000009000000000000" pitchFamily="49" charset="0"/>
                <a:cs typeface="JetBrains Mono" panose="02000009000000000000" pitchFamily="49" charset="0"/>
              </a:rPr>
              <a:t>contoh</a:t>
            </a:r>
            <a:r>
              <a:rPr lang="en-US" sz="2400" cap="none" dirty="0">
                <a:latin typeface="JetBrains Mono" panose="02000009000000000000" pitchFamily="49" charset="0"/>
                <a:cs typeface="JetBrains Mono" panose="02000009000000000000" pitchFamily="49" charset="0"/>
              </a:rPr>
              <a:t> </a:t>
            </a:r>
            <a:r>
              <a:rPr lang="en-US" sz="2400" cap="none" dirty="0" err="1">
                <a:latin typeface="JetBrains Mono" panose="02000009000000000000" pitchFamily="49" charset="0"/>
                <a:cs typeface="JetBrains Mono" panose="02000009000000000000" pitchFamily="49" charset="0"/>
              </a:rPr>
              <a:t>penggunaan</a:t>
            </a:r>
            <a:endParaRPr lang="id-ID" sz="2400" cap="none" dirty="0">
              <a:latin typeface="JetBrains Mono" panose="02000009000000000000" pitchFamily="49" charset="0"/>
              <a:cs typeface="JetBrains Mono" panose="02000009000000000000" pitchFamily="49" charset="0"/>
            </a:endParaRPr>
          </a:p>
        </p:txBody>
      </p:sp>
      <p:sp>
        <p:nvSpPr>
          <p:cNvPr id="3" name="Content Placeholder 2">
            <a:extLst>
              <a:ext uri="{FF2B5EF4-FFF2-40B4-BE49-F238E27FC236}">
                <a16:creationId xmlns:a16="http://schemas.microsoft.com/office/drawing/2014/main" id="{776C2918-7F67-49CB-A189-CE8935F078C6}"/>
              </a:ext>
            </a:extLst>
          </p:cNvPr>
          <p:cNvSpPr>
            <a:spLocks noGrp="1"/>
          </p:cNvSpPr>
          <p:nvPr>
            <p:ph idx="1"/>
          </p:nvPr>
        </p:nvSpPr>
        <p:spPr>
          <a:xfrm>
            <a:off x="1141412" y="1066798"/>
            <a:ext cx="9905999" cy="5172683"/>
          </a:xfrm>
        </p:spPr>
        <p:txBody>
          <a:bodyPr>
            <a:normAutofit fontScale="70000" lnSpcReduction="20000"/>
          </a:bodyPr>
          <a:lstStyle/>
          <a:p>
            <a:pPr marL="0" indent="0">
              <a:buNone/>
            </a:pPr>
            <a:r>
              <a:rPr lang="en-US" dirty="0">
                <a:latin typeface="JetBrains Mono" panose="02000009000000000000" pitchFamily="49" charset="0"/>
                <a:cs typeface="JetBrains Mono" panose="02000009000000000000" pitchFamily="49" charset="0"/>
              </a:rPr>
              <a:t>&lt;div class="</a:t>
            </a:r>
            <a:r>
              <a:rPr lang="en-US" dirty="0">
                <a:solidFill>
                  <a:schemeClr val="bg1"/>
                </a:solidFill>
                <a:latin typeface="JetBrains Mono" panose="02000009000000000000" pitchFamily="49" charset="0"/>
                <a:cs typeface="JetBrains Mono" panose="02000009000000000000" pitchFamily="49" charset="0"/>
              </a:rPr>
              <a:t>row</a:t>
            </a:r>
            <a:r>
              <a:rPr lang="en-US" dirty="0">
                <a:latin typeface="JetBrains Mono" panose="02000009000000000000" pitchFamily="49" charset="0"/>
                <a:cs typeface="JetBrains Mono" panose="02000009000000000000" pitchFamily="49" charset="0"/>
              </a:rPr>
              <a:t>"&gt;</a:t>
            </a:r>
          </a:p>
          <a:p>
            <a:pPr marL="0" indent="0">
              <a:buNone/>
            </a:pPr>
            <a:r>
              <a:rPr lang="en-US" dirty="0">
                <a:latin typeface="JetBrains Mono" panose="02000009000000000000" pitchFamily="49" charset="0"/>
                <a:cs typeface="JetBrains Mono" panose="02000009000000000000" pitchFamily="49" charset="0"/>
              </a:rPr>
              <a:t>  &lt;div class="</a:t>
            </a:r>
            <a:r>
              <a:rPr lang="en-US" dirty="0">
                <a:solidFill>
                  <a:schemeClr val="accent3">
                    <a:lumMod val="75000"/>
                  </a:schemeClr>
                </a:solidFill>
                <a:latin typeface="JetBrains Mono" panose="02000009000000000000" pitchFamily="49" charset="0"/>
                <a:cs typeface="JetBrains Mono" panose="02000009000000000000" pitchFamily="49" charset="0"/>
              </a:rPr>
              <a:t>col</a:t>
            </a:r>
            <a:r>
              <a:rPr lang="en-US" dirty="0">
                <a:latin typeface="JetBrains Mono" panose="02000009000000000000" pitchFamily="49" charset="0"/>
                <a:cs typeface="JetBrains Mono" panose="02000009000000000000" pitchFamily="49" charset="0"/>
              </a:rPr>
              <a:t>"&gt;</a:t>
            </a:r>
          </a:p>
          <a:p>
            <a:pPr marL="0" indent="0">
              <a:buNone/>
            </a:pPr>
            <a:r>
              <a:rPr lang="en-US" dirty="0">
                <a:latin typeface="JetBrains Mono" panose="02000009000000000000" pitchFamily="49" charset="0"/>
                <a:cs typeface="JetBrains Mono" panose="02000009000000000000" pitchFamily="49" charset="0"/>
              </a:rPr>
              <a:t>    &lt;!-- </a:t>
            </a:r>
            <a:r>
              <a:rPr lang="en-US" dirty="0" err="1">
                <a:latin typeface="JetBrains Mono" panose="02000009000000000000" pitchFamily="49" charset="0"/>
                <a:cs typeface="JetBrains Mono" panose="02000009000000000000" pitchFamily="49" charset="0"/>
              </a:rPr>
              <a:t>kolom</a:t>
            </a:r>
            <a:r>
              <a:rPr lang="en-US" dirty="0">
                <a:latin typeface="JetBrains Mono" panose="02000009000000000000" pitchFamily="49" charset="0"/>
                <a:cs typeface="JetBrains Mono" panose="02000009000000000000" pitchFamily="49" charset="0"/>
              </a:rPr>
              <a:t> 1 --&gt;</a:t>
            </a:r>
          </a:p>
          <a:p>
            <a:pPr marL="0" indent="0">
              <a:buNone/>
            </a:pPr>
            <a:r>
              <a:rPr lang="en-US" dirty="0">
                <a:latin typeface="JetBrains Mono" panose="02000009000000000000" pitchFamily="49" charset="0"/>
                <a:cs typeface="JetBrains Mono" panose="02000009000000000000" pitchFamily="49" charset="0"/>
              </a:rPr>
              <a:t>  &lt;/div&gt;</a:t>
            </a:r>
          </a:p>
          <a:p>
            <a:pPr marL="0" indent="0">
              <a:buNone/>
            </a:pPr>
            <a:r>
              <a:rPr lang="en-US" dirty="0">
                <a:latin typeface="JetBrains Mono" panose="02000009000000000000" pitchFamily="49" charset="0"/>
                <a:cs typeface="JetBrains Mono" panose="02000009000000000000" pitchFamily="49" charset="0"/>
              </a:rPr>
              <a:t>  &lt;div class="</a:t>
            </a:r>
            <a:r>
              <a:rPr lang="en-US" dirty="0">
                <a:solidFill>
                  <a:schemeClr val="accent3">
                    <a:lumMod val="75000"/>
                  </a:schemeClr>
                </a:solidFill>
                <a:latin typeface="JetBrains Mono" panose="02000009000000000000" pitchFamily="49" charset="0"/>
                <a:cs typeface="JetBrains Mono" panose="02000009000000000000" pitchFamily="49" charset="0"/>
              </a:rPr>
              <a:t>col</a:t>
            </a:r>
            <a:r>
              <a:rPr lang="en-US" dirty="0">
                <a:latin typeface="JetBrains Mono" panose="02000009000000000000" pitchFamily="49" charset="0"/>
                <a:cs typeface="JetBrains Mono" panose="02000009000000000000" pitchFamily="49" charset="0"/>
              </a:rPr>
              <a:t>"&gt;</a:t>
            </a:r>
          </a:p>
          <a:p>
            <a:pPr marL="0" indent="0">
              <a:buNone/>
            </a:pPr>
            <a:r>
              <a:rPr lang="en-US" dirty="0">
                <a:latin typeface="JetBrains Mono" panose="02000009000000000000" pitchFamily="49" charset="0"/>
                <a:cs typeface="JetBrains Mono" panose="02000009000000000000" pitchFamily="49" charset="0"/>
              </a:rPr>
              <a:t>    &lt;!-- </a:t>
            </a:r>
            <a:r>
              <a:rPr lang="en-US" dirty="0" err="1">
                <a:latin typeface="JetBrains Mono" panose="02000009000000000000" pitchFamily="49" charset="0"/>
                <a:cs typeface="JetBrains Mono" panose="02000009000000000000" pitchFamily="49" charset="0"/>
              </a:rPr>
              <a:t>kolom</a:t>
            </a:r>
            <a:r>
              <a:rPr lang="en-US" dirty="0">
                <a:latin typeface="JetBrains Mono" panose="02000009000000000000" pitchFamily="49" charset="0"/>
                <a:cs typeface="JetBrains Mono" panose="02000009000000000000" pitchFamily="49" charset="0"/>
              </a:rPr>
              <a:t> 2 --&gt;</a:t>
            </a:r>
          </a:p>
          <a:p>
            <a:pPr marL="0" indent="0">
              <a:buNone/>
            </a:pPr>
            <a:r>
              <a:rPr lang="en-US" dirty="0">
                <a:latin typeface="JetBrains Mono" panose="02000009000000000000" pitchFamily="49" charset="0"/>
                <a:cs typeface="JetBrains Mono" panose="02000009000000000000" pitchFamily="49" charset="0"/>
              </a:rPr>
              <a:t>  &lt;/div&gt;</a:t>
            </a:r>
          </a:p>
          <a:p>
            <a:pPr marL="0" indent="0">
              <a:buNone/>
            </a:pPr>
            <a:r>
              <a:rPr lang="en-US" dirty="0">
                <a:latin typeface="JetBrains Mono" panose="02000009000000000000" pitchFamily="49" charset="0"/>
                <a:cs typeface="JetBrains Mono" panose="02000009000000000000" pitchFamily="49" charset="0"/>
              </a:rPr>
              <a:t>&lt;/div&gt;</a:t>
            </a:r>
          </a:p>
          <a:p>
            <a:pPr marL="0" indent="0">
              <a:buNone/>
            </a:pPr>
            <a:r>
              <a:rPr lang="en-US" dirty="0">
                <a:latin typeface="JetBrains Mono" panose="02000009000000000000" pitchFamily="49" charset="0"/>
                <a:cs typeface="JetBrains Mono" panose="02000009000000000000" pitchFamily="49" charset="0"/>
              </a:rPr>
              <a:t>&lt;div class="</a:t>
            </a:r>
            <a:r>
              <a:rPr lang="en-US" dirty="0">
                <a:solidFill>
                  <a:schemeClr val="bg1"/>
                </a:solidFill>
                <a:latin typeface="JetBrains Mono" panose="02000009000000000000" pitchFamily="49" charset="0"/>
                <a:cs typeface="JetBrains Mono" panose="02000009000000000000" pitchFamily="49" charset="0"/>
              </a:rPr>
              <a:t>row</a:t>
            </a:r>
            <a:r>
              <a:rPr lang="en-US" dirty="0">
                <a:latin typeface="JetBrains Mono" panose="02000009000000000000" pitchFamily="49" charset="0"/>
                <a:cs typeface="JetBrains Mono" panose="02000009000000000000" pitchFamily="49" charset="0"/>
              </a:rPr>
              <a:t>"&gt;</a:t>
            </a:r>
          </a:p>
          <a:p>
            <a:pPr marL="0" indent="0">
              <a:buNone/>
            </a:pPr>
            <a:r>
              <a:rPr lang="en-US" dirty="0">
                <a:latin typeface="JetBrains Mono" panose="02000009000000000000" pitchFamily="49" charset="0"/>
                <a:cs typeface="JetBrains Mono" panose="02000009000000000000" pitchFamily="49" charset="0"/>
              </a:rPr>
              <a:t>  &lt;div class="</a:t>
            </a:r>
            <a:r>
              <a:rPr lang="en-US" dirty="0">
                <a:solidFill>
                  <a:schemeClr val="accent3">
                    <a:lumMod val="75000"/>
                  </a:schemeClr>
                </a:solidFill>
                <a:latin typeface="JetBrains Mono" panose="02000009000000000000" pitchFamily="49" charset="0"/>
                <a:cs typeface="JetBrains Mono" panose="02000009000000000000" pitchFamily="49" charset="0"/>
              </a:rPr>
              <a:t>col-md-12</a:t>
            </a:r>
            <a:r>
              <a:rPr lang="en-US" dirty="0">
                <a:latin typeface="JetBrains Mono" panose="02000009000000000000" pitchFamily="49" charset="0"/>
                <a:cs typeface="JetBrains Mono" panose="02000009000000000000" pitchFamily="49" charset="0"/>
              </a:rPr>
              <a:t>"&gt;</a:t>
            </a:r>
          </a:p>
          <a:p>
            <a:pPr marL="0" indent="0">
              <a:buNone/>
            </a:pPr>
            <a:r>
              <a:rPr lang="en-US" dirty="0">
                <a:latin typeface="JetBrains Mono" panose="02000009000000000000" pitchFamily="49" charset="0"/>
                <a:cs typeface="JetBrains Mono" panose="02000009000000000000" pitchFamily="49" charset="0"/>
              </a:rPr>
              <a:t>    &lt;!-- </a:t>
            </a:r>
            <a:r>
              <a:rPr lang="en-US" dirty="0" err="1">
                <a:latin typeface="JetBrains Mono" panose="02000009000000000000" pitchFamily="49" charset="0"/>
                <a:cs typeface="JetBrains Mono" panose="02000009000000000000" pitchFamily="49" charset="0"/>
              </a:rPr>
              <a:t>kolom</a:t>
            </a:r>
            <a:r>
              <a:rPr lang="en-US" dirty="0">
                <a:latin typeface="JetBrains Mono" panose="02000009000000000000" pitchFamily="49" charset="0"/>
                <a:cs typeface="JetBrains Mono" panose="02000009000000000000" pitchFamily="49" charset="0"/>
              </a:rPr>
              <a:t> 1 --&gt;</a:t>
            </a:r>
          </a:p>
          <a:p>
            <a:pPr marL="0" indent="0">
              <a:buNone/>
            </a:pPr>
            <a:r>
              <a:rPr lang="en-US" dirty="0">
                <a:latin typeface="JetBrains Mono" panose="02000009000000000000" pitchFamily="49" charset="0"/>
                <a:cs typeface="JetBrains Mono" panose="02000009000000000000" pitchFamily="49" charset="0"/>
              </a:rPr>
              <a:t>  &lt;/div&gt;</a:t>
            </a:r>
          </a:p>
          <a:p>
            <a:pPr marL="0" indent="0">
              <a:buNone/>
            </a:pPr>
            <a:r>
              <a:rPr lang="en-US" dirty="0">
                <a:latin typeface="JetBrains Mono" panose="02000009000000000000" pitchFamily="49" charset="0"/>
                <a:cs typeface="JetBrains Mono" panose="02000009000000000000" pitchFamily="49" charset="0"/>
              </a:rPr>
              <a:t>&lt;/div&gt;</a:t>
            </a:r>
            <a:endParaRPr lang="id-ID" dirty="0">
              <a:latin typeface="JetBrains Mono" panose="02000009000000000000" pitchFamily="49" charset="0"/>
              <a:cs typeface="JetBrains Mono" panose="02000009000000000000" pitchFamily="49" charset="0"/>
            </a:endParaRPr>
          </a:p>
        </p:txBody>
      </p:sp>
    </p:spTree>
    <p:extLst>
      <p:ext uri="{BB962C8B-B14F-4D97-AF65-F5344CB8AC3E}">
        <p14:creationId xmlns:p14="http://schemas.microsoft.com/office/powerpoint/2010/main" val="1104639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7AE5A-7C73-4CB7-8640-C549FEC88A44}"/>
              </a:ext>
            </a:extLst>
          </p:cNvPr>
          <p:cNvSpPr>
            <a:spLocks noGrp="1"/>
          </p:cNvSpPr>
          <p:nvPr>
            <p:ph type="title"/>
          </p:nvPr>
        </p:nvSpPr>
        <p:spPr>
          <a:xfrm>
            <a:off x="1141413" y="618518"/>
            <a:ext cx="9905998" cy="600682"/>
          </a:xfrm>
        </p:spPr>
        <p:txBody>
          <a:bodyPr/>
          <a:lstStyle/>
          <a:p>
            <a:r>
              <a:rPr lang="en-US" cap="none" dirty="0">
                <a:latin typeface="JetBrains Mono" panose="02000009000000000000" pitchFamily="49" charset="0"/>
                <a:cs typeface="JetBrains Mono" panose="02000009000000000000" pitchFamily="49" charset="0"/>
              </a:rPr>
              <a:t>class </a:t>
            </a:r>
            <a:r>
              <a:rPr lang="en-US" cap="none" dirty="0">
                <a:solidFill>
                  <a:srgbClr val="00B050"/>
                </a:solidFill>
                <a:latin typeface="JetBrains Mono" panose="02000009000000000000" pitchFamily="49" charset="0"/>
                <a:cs typeface="JetBrains Mono" panose="02000009000000000000" pitchFamily="49" charset="0"/>
              </a:rPr>
              <a:t>gutter</a:t>
            </a:r>
            <a:endParaRPr lang="id-ID" cap="none" dirty="0">
              <a:solidFill>
                <a:srgbClr val="00B050"/>
              </a:solidFill>
              <a:latin typeface="JetBrains Mono" panose="02000009000000000000" pitchFamily="49" charset="0"/>
              <a:cs typeface="JetBrains Mono" panose="02000009000000000000" pitchFamily="49" charset="0"/>
            </a:endParaRPr>
          </a:p>
        </p:txBody>
      </p:sp>
      <p:sp>
        <p:nvSpPr>
          <p:cNvPr id="3" name="Content Placeholder 2">
            <a:extLst>
              <a:ext uri="{FF2B5EF4-FFF2-40B4-BE49-F238E27FC236}">
                <a16:creationId xmlns:a16="http://schemas.microsoft.com/office/drawing/2014/main" id="{D2D3A6F2-E17D-4373-931B-A1C8237D20FC}"/>
              </a:ext>
            </a:extLst>
          </p:cNvPr>
          <p:cNvSpPr>
            <a:spLocks noGrp="1"/>
          </p:cNvSpPr>
          <p:nvPr>
            <p:ph idx="1"/>
          </p:nvPr>
        </p:nvSpPr>
        <p:spPr>
          <a:xfrm>
            <a:off x="1035394" y="1219199"/>
            <a:ext cx="9905999" cy="5287617"/>
          </a:xfrm>
        </p:spPr>
        <p:txBody>
          <a:bodyPr>
            <a:normAutofit fontScale="92500" lnSpcReduction="10000"/>
          </a:bodyPr>
          <a:lstStyle/>
          <a:p>
            <a:pPr marL="0" indent="0" algn="just">
              <a:buNone/>
            </a:pPr>
            <a:r>
              <a:rPr lang="id-ID" dirty="0">
                <a:solidFill>
                  <a:srgbClr val="00B050"/>
                </a:solidFill>
                <a:latin typeface="JetBrains Mono" panose="02000009000000000000" pitchFamily="49" charset="0"/>
                <a:cs typeface="JetBrains Mono" panose="02000009000000000000" pitchFamily="49" charset="0"/>
              </a:rPr>
              <a:t>gutter</a:t>
            </a:r>
            <a:r>
              <a:rPr lang="id-ID" dirty="0">
                <a:latin typeface="JetBrains Mono" panose="02000009000000000000" pitchFamily="49" charset="0"/>
                <a:cs typeface="JetBrains Mono" panose="02000009000000000000" pitchFamily="49" charset="0"/>
              </a:rPr>
              <a:t> adalah jarak antar kolom. Class </a:t>
            </a:r>
            <a:r>
              <a:rPr lang="id-ID" dirty="0">
                <a:solidFill>
                  <a:srgbClr val="00B050"/>
                </a:solidFill>
                <a:latin typeface="JetBrains Mono" panose="02000009000000000000" pitchFamily="49" charset="0"/>
                <a:cs typeface="JetBrains Mono" panose="02000009000000000000" pitchFamily="49" charset="0"/>
              </a:rPr>
              <a:t>gutter</a:t>
            </a:r>
            <a:r>
              <a:rPr lang="id-ID" dirty="0">
                <a:latin typeface="JetBrains Mono" panose="02000009000000000000" pitchFamily="49" charset="0"/>
                <a:cs typeface="JetBrains Mono" panose="02000009000000000000" pitchFamily="49" charset="0"/>
              </a:rPr>
              <a:t> ditulis bersamaan dengan class </a:t>
            </a:r>
            <a:r>
              <a:rPr lang="id-ID" dirty="0">
                <a:solidFill>
                  <a:schemeClr val="bg1"/>
                </a:solidFill>
                <a:latin typeface="JetBrains Mono" panose="02000009000000000000" pitchFamily="49" charset="0"/>
                <a:cs typeface="JetBrains Mono" panose="02000009000000000000" pitchFamily="49" charset="0"/>
              </a:rPr>
              <a:t>row</a:t>
            </a:r>
            <a:r>
              <a:rPr lang="id-ID" dirty="0">
                <a:latin typeface="JetBrains Mono" panose="02000009000000000000" pitchFamily="49" charset="0"/>
                <a:cs typeface="JetBrains Mono" panose="02000009000000000000" pitchFamily="49" charset="0"/>
              </a:rPr>
              <a:t>. Format penulisannya menggunakan huruf </a:t>
            </a:r>
            <a:r>
              <a:rPr lang="id-ID" dirty="0">
                <a:solidFill>
                  <a:srgbClr val="00B050"/>
                </a:solidFill>
                <a:latin typeface="JetBrains Mono" panose="02000009000000000000" pitchFamily="49" charset="0"/>
                <a:cs typeface="JetBrains Mono" panose="02000009000000000000" pitchFamily="49" charset="0"/>
              </a:rPr>
              <a:t>g</a:t>
            </a:r>
            <a:r>
              <a:rPr lang="id-ID" dirty="0">
                <a:latin typeface="JetBrains Mono" panose="02000009000000000000" pitchFamily="49" charset="0"/>
                <a:cs typeface="JetBrains Mono" panose="02000009000000000000" pitchFamily="49" charset="0"/>
              </a:rPr>
              <a:t>.</a:t>
            </a:r>
          </a:p>
          <a:p>
            <a:pPr marL="0" indent="0" algn="just">
              <a:buNone/>
            </a:pPr>
            <a:endParaRPr lang="id-ID" dirty="0">
              <a:latin typeface="JetBrains Mono" panose="02000009000000000000" pitchFamily="49" charset="0"/>
              <a:cs typeface="JetBrains Mono" panose="02000009000000000000" pitchFamily="49" charset="0"/>
            </a:endParaRPr>
          </a:p>
          <a:p>
            <a:pPr marL="0" indent="0" algn="just">
              <a:buNone/>
            </a:pPr>
            <a:r>
              <a:rPr lang="id-ID" dirty="0">
                <a:solidFill>
                  <a:srgbClr val="00B050"/>
                </a:solidFill>
                <a:latin typeface="JetBrains Mono" panose="02000009000000000000" pitchFamily="49" charset="0"/>
                <a:cs typeface="JetBrains Mono" panose="02000009000000000000" pitchFamily="49" charset="0"/>
              </a:rPr>
              <a:t>g</a:t>
            </a:r>
            <a:r>
              <a:rPr lang="id-ID" dirty="0">
                <a:latin typeface="JetBrains Mono" panose="02000009000000000000" pitchFamily="49" charset="0"/>
                <a:cs typeface="JetBrains Mono" panose="02000009000000000000" pitchFamily="49" charset="0"/>
              </a:rPr>
              <a:t>-[breakpoint]-[</a:t>
            </a:r>
            <a:r>
              <a:rPr lang="id-ID" dirty="0">
                <a:solidFill>
                  <a:srgbClr val="00B050"/>
                </a:solidFill>
                <a:latin typeface="JetBrains Mono" panose="02000009000000000000" pitchFamily="49" charset="0"/>
                <a:cs typeface="JetBrains Mono" panose="02000009000000000000" pitchFamily="49" charset="0"/>
              </a:rPr>
              <a:t>ukuran</a:t>
            </a:r>
            <a:r>
              <a:rPr lang="id-ID" dirty="0">
                <a:latin typeface="JetBrains Mono" panose="02000009000000000000" pitchFamily="49" charset="0"/>
                <a:cs typeface="JetBrains Mono" panose="02000009000000000000" pitchFamily="49" charset="0"/>
              </a:rPr>
              <a:t>]</a:t>
            </a:r>
          </a:p>
          <a:p>
            <a:pPr marL="0" indent="0" algn="just">
              <a:buNone/>
            </a:pPr>
            <a:r>
              <a:rPr lang="id-ID" dirty="0">
                <a:solidFill>
                  <a:srgbClr val="00B050"/>
                </a:solidFill>
                <a:latin typeface="JetBrains Mono" panose="02000009000000000000" pitchFamily="49" charset="0"/>
                <a:cs typeface="JetBrains Mono" panose="02000009000000000000" pitchFamily="49" charset="0"/>
              </a:rPr>
              <a:t>gx</a:t>
            </a:r>
            <a:r>
              <a:rPr lang="id-ID" dirty="0">
                <a:latin typeface="JetBrains Mono" panose="02000009000000000000" pitchFamily="49" charset="0"/>
                <a:cs typeface="JetBrains Mono" panose="02000009000000000000" pitchFamily="49" charset="0"/>
              </a:rPr>
              <a:t>-[breakpoint]-[</a:t>
            </a:r>
            <a:r>
              <a:rPr lang="id-ID" dirty="0">
                <a:solidFill>
                  <a:srgbClr val="00B050"/>
                </a:solidFill>
                <a:latin typeface="JetBrains Mono" panose="02000009000000000000" pitchFamily="49" charset="0"/>
                <a:cs typeface="JetBrains Mono" panose="02000009000000000000" pitchFamily="49" charset="0"/>
              </a:rPr>
              <a:t>ukuran</a:t>
            </a:r>
            <a:r>
              <a:rPr lang="id-ID" dirty="0">
                <a:latin typeface="JetBrains Mono" panose="02000009000000000000" pitchFamily="49" charset="0"/>
                <a:cs typeface="JetBrains Mono" panose="02000009000000000000" pitchFamily="49" charset="0"/>
              </a:rPr>
              <a:t>]</a:t>
            </a:r>
          </a:p>
          <a:p>
            <a:pPr marL="0" indent="0" algn="just">
              <a:buNone/>
            </a:pPr>
            <a:r>
              <a:rPr lang="id-ID" dirty="0">
                <a:solidFill>
                  <a:srgbClr val="00B050"/>
                </a:solidFill>
                <a:latin typeface="JetBrains Mono" panose="02000009000000000000" pitchFamily="49" charset="0"/>
                <a:cs typeface="JetBrains Mono" panose="02000009000000000000" pitchFamily="49" charset="0"/>
              </a:rPr>
              <a:t>gy</a:t>
            </a:r>
            <a:r>
              <a:rPr lang="id-ID" dirty="0">
                <a:latin typeface="JetBrains Mono" panose="02000009000000000000" pitchFamily="49" charset="0"/>
                <a:cs typeface="JetBrains Mono" panose="02000009000000000000" pitchFamily="49" charset="0"/>
              </a:rPr>
              <a:t>-[breakpoint]-[</a:t>
            </a:r>
            <a:r>
              <a:rPr lang="id-ID" dirty="0">
                <a:solidFill>
                  <a:srgbClr val="00B050"/>
                </a:solidFill>
                <a:latin typeface="JetBrains Mono" panose="02000009000000000000" pitchFamily="49" charset="0"/>
                <a:cs typeface="JetBrains Mono" panose="02000009000000000000" pitchFamily="49" charset="0"/>
              </a:rPr>
              <a:t>ukuran</a:t>
            </a:r>
            <a:r>
              <a:rPr lang="id-ID" dirty="0">
                <a:latin typeface="JetBrains Mono" panose="02000009000000000000" pitchFamily="49" charset="0"/>
                <a:cs typeface="JetBrains Mono" panose="02000009000000000000" pitchFamily="49" charset="0"/>
              </a:rPr>
              <a:t>]</a:t>
            </a:r>
          </a:p>
          <a:p>
            <a:pPr marL="0" indent="0" algn="just">
              <a:buNone/>
            </a:pPr>
            <a:endParaRPr lang="id-ID" dirty="0">
              <a:latin typeface="JetBrains Mono" panose="02000009000000000000" pitchFamily="49" charset="0"/>
              <a:cs typeface="JetBrains Mono" panose="02000009000000000000" pitchFamily="49" charset="0"/>
            </a:endParaRPr>
          </a:p>
          <a:p>
            <a:pPr marL="0" indent="0" algn="just">
              <a:buNone/>
            </a:pPr>
            <a:r>
              <a:rPr lang="id-ID" dirty="0">
                <a:solidFill>
                  <a:srgbClr val="00B050"/>
                </a:solidFill>
                <a:latin typeface="JetBrains Mono" panose="02000009000000000000" pitchFamily="49" charset="0"/>
                <a:cs typeface="JetBrains Mono" panose="02000009000000000000" pitchFamily="49" charset="0"/>
              </a:rPr>
              <a:t>gutter</a:t>
            </a:r>
            <a:r>
              <a:rPr lang="id-ID" dirty="0">
                <a:latin typeface="JetBrains Mono" panose="02000009000000000000" pitchFamily="49" charset="0"/>
                <a:cs typeface="JetBrains Mono" panose="02000009000000000000" pitchFamily="49" charset="0"/>
              </a:rPr>
              <a:t> punya ukuran mulai dari 0 sampai 5. Class </a:t>
            </a:r>
            <a:r>
              <a:rPr lang="id-ID" dirty="0">
                <a:solidFill>
                  <a:srgbClr val="00B050"/>
                </a:solidFill>
                <a:latin typeface="JetBrains Mono" panose="02000009000000000000" pitchFamily="49" charset="0"/>
                <a:cs typeface="JetBrains Mono" panose="02000009000000000000" pitchFamily="49" charset="0"/>
              </a:rPr>
              <a:t>gx</a:t>
            </a:r>
            <a:r>
              <a:rPr lang="id-ID" dirty="0">
                <a:latin typeface="JetBrains Mono" panose="02000009000000000000" pitchFamily="49" charset="0"/>
                <a:cs typeface="JetBrains Mono" panose="02000009000000000000" pitchFamily="49" charset="0"/>
              </a:rPr>
              <a:t> adalah </a:t>
            </a:r>
            <a:r>
              <a:rPr lang="id-ID" dirty="0">
                <a:solidFill>
                  <a:srgbClr val="00B050"/>
                </a:solidFill>
                <a:latin typeface="JetBrains Mono" panose="02000009000000000000" pitchFamily="49" charset="0"/>
                <a:cs typeface="JetBrains Mono" panose="02000009000000000000" pitchFamily="49" charset="0"/>
              </a:rPr>
              <a:t>gutter</a:t>
            </a:r>
            <a:r>
              <a:rPr lang="id-ID" dirty="0">
                <a:latin typeface="JetBrains Mono" panose="02000009000000000000" pitchFamily="49" charset="0"/>
                <a:cs typeface="JetBrains Mono" panose="02000009000000000000" pitchFamily="49" charset="0"/>
              </a:rPr>
              <a:t> untuk horizontal, sedangkan </a:t>
            </a:r>
            <a:r>
              <a:rPr lang="id-ID" dirty="0">
                <a:solidFill>
                  <a:srgbClr val="00B050"/>
                </a:solidFill>
                <a:latin typeface="JetBrains Mono" panose="02000009000000000000" pitchFamily="49" charset="0"/>
                <a:cs typeface="JetBrains Mono" panose="02000009000000000000" pitchFamily="49" charset="0"/>
              </a:rPr>
              <a:t>gy</a:t>
            </a:r>
            <a:r>
              <a:rPr lang="id-ID" dirty="0">
                <a:latin typeface="JetBrains Mono" panose="02000009000000000000" pitchFamily="49" charset="0"/>
                <a:cs typeface="JetBrains Mono" panose="02000009000000000000" pitchFamily="49" charset="0"/>
              </a:rPr>
              <a:t> adalah </a:t>
            </a:r>
            <a:r>
              <a:rPr lang="id-ID" dirty="0">
                <a:solidFill>
                  <a:srgbClr val="00B050"/>
                </a:solidFill>
                <a:latin typeface="JetBrains Mono" panose="02000009000000000000" pitchFamily="49" charset="0"/>
                <a:cs typeface="JetBrains Mono" panose="02000009000000000000" pitchFamily="49" charset="0"/>
              </a:rPr>
              <a:t>gutter</a:t>
            </a:r>
            <a:r>
              <a:rPr lang="id-ID" dirty="0">
                <a:latin typeface="JetBrains Mono" panose="02000009000000000000" pitchFamily="49" charset="0"/>
                <a:cs typeface="JetBrains Mono" panose="02000009000000000000" pitchFamily="49" charset="0"/>
              </a:rPr>
              <a:t> untuk vertikal. Jika hanya menggunakan </a:t>
            </a:r>
            <a:r>
              <a:rPr lang="id-ID" dirty="0">
                <a:solidFill>
                  <a:srgbClr val="00B050"/>
                </a:solidFill>
                <a:latin typeface="JetBrains Mono" panose="02000009000000000000" pitchFamily="49" charset="0"/>
                <a:cs typeface="JetBrains Mono" panose="02000009000000000000" pitchFamily="49" charset="0"/>
              </a:rPr>
              <a:t>g</a:t>
            </a:r>
            <a:r>
              <a:rPr lang="id-ID" dirty="0">
                <a:latin typeface="JetBrains Mono" panose="02000009000000000000" pitchFamily="49" charset="0"/>
                <a:cs typeface="JetBrains Mono" panose="02000009000000000000" pitchFamily="49" charset="0"/>
              </a:rPr>
              <a:t> saja, maka artinya </a:t>
            </a:r>
            <a:r>
              <a:rPr lang="id-ID" dirty="0">
                <a:solidFill>
                  <a:srgbClr val="00B050"/>
                </a:solidFill>
                <a:latin typeface="JetBrains Mono" panose="02000009000000000000" pitchFamily="49" charset="0"/>
                <a:cs typeface="JetBrains Mono" panose="02000009000000000000" pitchFamily="49" charset="0"/>
              </a:rPr>
              <a:t>gutter</a:t>
            </a:r>
            <a:r>
              <a:rPr lang="id-ID" dirty="0">
                <a:latin typeface="JetBrains Mono" panose="02000009000000000000" pitchFamily="49" charset="0"/>
                <a:cs typeface="JetBrains Mono" panose="02000009000000000000" pitchFamily="49" charset="0"/>
              </a:rPr>
              <a:t> untuk horizontal dan vertikal.</a:t>
            </a:r>
          </a:p>
        </p:txBody>
      </p:sp>
    </p:spTree>
    <p:extLst>
      <p:ext uri="{BB962C8B-B14F-4D97-AF65-F5344CB8AC3E}">
        <p14:creationId xmlns:p14="http://schemas.microsoft.com/office/powerpoint/2010/main" val="9351353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4F9C5-20CD-448D-926B-89D853851C52}"/>
              </a:ext>
            </a:extLst>
          </p:cNvPr>
          <p:cNvSpPr>
            <a:spLocks noGrp="1"/>
          </p:cNvSpPr>
          <p:nvPr>
            <p:ph type="title"/>
          </p:nvPr>
        </p:nvSpPr>
        <p:spPr>
          <a:xfrm>
            <a:off x="1141413" y="618518"/>
            <a:ext cx="9905998" cy="640439"/>
          </a:xfrm>
        </p:spPr>
        <p:txBody>
          <a:bodyPr/>
          <a:lstStyle/>
          <a:p>
            <a:r>
              <a:rPr lang="en-US" dirty="0" err="1">
                <a:latin typeface="JetBrains Mono" panose="02000009000000000000" pitchFamily="49" charset="0"/>
                <a:cs typeface="JetBrains Mono" panose="02000009000000000000" pitchFamily="49" charset="0"/>
              </a:rPr>
              <a:t>contoh</a:t>
            </a:r>
            <a:endParaRPr lang="id-ID" dirty="0">
              <a:latin typeface="JetBrains Mono" panose="02000009000000000000" pitchFamily="49" charset="0"/>
              <a:cs typeface="JetBrains Mono" panose="02000009000000000000" pitchFamily="49" charset="0"/>
            </a:endParaRPr>
          </a:p>
        </p:txBody>
      </p:sp>
      <p:sp>
        <p:nvSpPr>
          <p:cNvPr id="3" name="Content Placeholder 2">
            <a:extLst>
              <a:ext uri="{FF2B5EF4-FFF2-40B4-BE49-F238E27FC236}">
                <a16:creationId xmlns:a16="http://schemas.microsoft.com/office/drawing/2014/main" id="{A343B154-5425-4E89-940F-79E52D1D00B3}"/>
              </a:ext>
            </a:extLst>
          </p:cNvPr>
          <p:cNvSpPr>
            <a:spLocks noGrp="1"/>
          </p:cNvSpPr>
          <p:nvPr>
            <p:ph idx="1"/>
          </p:nvPr>
        </p:nvSpPr>
        <p:spPr>
          <a:xfrm>
            <a:off x="1141413" y="1258956"/>
            <a:ext cx="9905999" cy="4545495"/>
          </a:xfrm>
        </p:spPr>
        <p:txBody>
          <a:bodyPr>
            <a:normAutofit/>
          </a:bodyPr>
          <a:lstStyle/>
          <a:p>
            <a:pPr marL="0" indent="0">
              <a:buNone/>
            </a:pPr>
            <a:r>
              <a:rPr lang="id-ID" sz="1800" dirty="0">
                <a:latin typeface="JetBrains Mono" panose="02000009000000000000" pitchFamily="49" charset="0"/>
                <a:cs typeface="JetBrains Mono" panose="02000009000000000000" pitchFamily="49" charset="0"/>
              </a:rPr>
              <a:t>&lt;div class="</a:t>
            </a:r>
            <a:r>
              <a:rPr lang="id-ID" sz="1800" dirty="0">
                <a:solidFill>
                  <a:schemeClr val="bg1"/>
                </a:solidFill>
                <a:latin typeface="JetBrains Mono" panose="02000009000000000000" pitchFamily="49" charset="0"/>
                <a:cs typeface="JetBrains Mono" panose="02000009000000000000" pitchFamily="49" charset="0"/>
              </a:rPr>
              <a:t>row</a:t>
            </a:r>
            <a:r>
              <a:rPr lang="id-ID" sz="1800" dirty="0">
                <a:latin typeface="JetBrains Mono" panose="02000009000000000000" pitchFamily="49" charset="0"/>
                <a:cs typeface="JetBrains Mono" panose="02000009000000000000" pitchFamily="49" charset="0"/>
              </a:rPr>
              <a:t> </a:t>
            </a:r>
            <a:r>
              <a:rPr lang="id-ID" sz="1800" dirty="0">
                <a:solidFill>
                  <a:srgbClr val="00B050"/>
                </a:solidFill>
                <a:latin typeface="JetBrains Mono" panose="02000009000000000000" pitchFamily="49" charset="0"/>
                <a:cs typeface="JetBrains Mono" panose="02000009000000000000" pitchFamily="49" charset="0"/>
              </a:rPr>
              <a:t>g-2</a:t>
            </a:r>
            <a:r>
              <a:rPr lang="id-ID" sz="1800" dirty="0">
                <a:latin typeface="JetBrains Mono" panose="02000009000000000000" pitchFamily="49" charset="0"/>
                <a:cs typeface="JetBrains Mono" panose="02000009000000000000" pitchFamily="49" charset="0"/>
              </a:rPr>
              <a:t>"&gt;</a:t>
            </a:r>
          </a:p>
          <a:p>
            <a:pPr marL="0" indent="0">
              <a:buNone/>
            </a:pPr>
            <a:r>
              <a:rPr lang="id-ID" sz="1800" dirty="0">
                <a:latin typeface="JetBrains Mono" panose="02000009000000000000" pitchFamily="49" charset="0"/>
                <a:cs typeface="JetBrains Mono" panose="02000009000000000000" pitchFamily="49" charset="0"/>
              </a:rPr>
              <a:t>  &lt;div class="</a:t>
            </a:r>
            <a:r>
              <a:rPr lang="id-ID" sz="1800" dirty="0">
                <a:solidFill>
                  <a:schemeClr val="accent3">
                    <a:lumMod val="75000"/>
                  </a:schemeClr>
                </a:solidFill>
                <a:latin typeface="JetBrains Mono" panose="02000009000000000000" pitchFamily="49" charset="0"/>
                <a:cs typeface="JetBrains Mono" panose="02000009000000000000" pitchFamily="49" charset="0"/>
              </a:rPr>
              <a:t>col</a:t>
            </a:r>
            <a:r>
              <a:rPr lang="id-ID" sz="1800" dirty="0">
                <a:latin typeface="JetBrains Mono" panose="02000009000000000000" pitchFamily="49" charset="0"/>
                <a:cs typeface="JetBrains Mono" panose="02000009000000000000" pitchFamily="49" charset="0"/>
              </a:rPr>
              <a:t>"&gt;</a:t>
            </a:r>
          </a:p>
          <a:p>
            <a:pPr marL="0" indent="0">
              <a:buNone/>
            </a:pPr>
            <a:r>
              <a:rPr lang="id-ID" sz="1800" dirty="0">
                <a:latin typeface="JetBrains Mono" panose="02000009000000000000" pitchFamily="49" charset="0"/>
                <a:cs typeface="JetBrains Mono" panose="02000009000000000000" pitchFamily="49" charset="0"/>
              </a:rPr>
              <a:t>    &lt;!-- kolom 1 --&gt;</a:t>
            </a:r>
          </a:p>
          <a:p>
            <a:pPr marL="0" indent="0">
              <a:buNone/>
            </a:pPr>
            <a:r>
              <a:rPr lang="id-ID" sz="1800" dirty="0">
                <a:latin typeface="JetBrains Mono" panose="02000009000000000000" pitchFamily="49" charset="0"/>
                <a:cs typeface="JetBrains Mono" panose="02000009000000000000" pitchFamily="49" charset="0"/>
              </a:rPr>
              <a:t>  &lt;/div&gt;</a:t>
            </a:r>
          </a:p>
          <a:p>
            <a:pPr marL="0" indent="0">
              <a:buNone/>
            </a:pPr>
            <a:r>
              <a:rPr lang="id-ID" sz="1800" dirty="0">
                <a:latin typeface="JetBrains Mono" panose="02000009000000000000" pitchFamily="49" charset="0"/>
                <a:cs typeface="JetBrains Mono" panose="02000009000000000000" pitchFamily="49" charset="0"/>
              </a:rPr>
              <a:t>  &lt;div class="</a:t>
            </a:r>
            <a:r>
              <a:rPr lang="id-ID" sz="1800" dirty="0">
                <a:solidFill>
                  <a:schemeClr val="accent3">
                    <a:lumMod val="75000"/>
                  </a:schemeClr>
                </a:solidFill>
                <a:latin typeface="JetBrains Mono" panose="02000009000000000000" pitchFamily="49" charset="0"/>
                <a:cs typeface="JetBrains Mono" panose="02000009000000000000" pitchFamily="49" charset="0"/>
              </a:rPr>
              <a:t>col</a:t>
            </a:r>
            <a:r>
              <a:rPr lang="id-ID" sz="1800" dirty="0">
                <a:latin typeface="JetBrains Mono" panose="02000009000000000000" pitchFamily="49" charset="0"/>
                <a:cs typeface="JetBrains Mono" panose="02000009000000000000" pitchFamily="49" charset="0"/>
              </a:rPr>
              <a:t>"&gt;</a:t>
            </a:r>
          </a:p>
          <a:p>
            <a:pPr marL="0" indent="0">
              <a:buNone/>
            </a:pPr>
            <a:r>
              <a:rPr lang="id-ID" sz="1800" dirty="0">
                <a:latin typeface="JetBrains Mono" panose="02000009000000000000" pitchFamily="49" charset="0"/>
                <a:cs typeface="JetBrains Mono" panose="02000009000000000000" pitchFamily="49" charset="0"/>
              </a:rPr>
              <a:t>    &lt;!-- kolom 2 --&gt;</a:t>
            </a:r>
          </a:p>
          <a:p>
            <a:pPr marL="0" indent="0">
              <a:buNone/>
            </a:pPr>
            <a:r>
              <a:rPr lang="id-ID" sz="1800" dirty="0">
                <a:latin typeface="JetBrains Mono" panose="02000009000000000000" pitchFamily="49" charset="0"/>
                <a:cs typeface="JetBrains Mono" panose="02000009000000000000" pitchFamily="49" charset="0"/>
              </a:rPr>
              <a:t>  &lt;/div&gt;</a:t>
            </a:r>
          </a:p>
          <a:p>
            <a:pPr marL="0" indent="0">
              <a:buNone/>
            </a:pPr>
            <a:r>
              <a:rPr lang="id-ID" sz="1800" dirty="0">
                <a:latin typeface="JetBrains Mono" panose="02000009000000000000" pitchFamily="49" charset="0"/>
                <a:cs typeface="JetBrains Mono" panose="02000009000000000000" pitchFamily="49" charset="0"/>
              </a:rPr>
              <a:t>&lt;/div&gt;</a:t>
            </a:r>
          </a:p>
          <a:p>
            <a:pPr marL="0" indent="0">
              <a:buNone/>
            </a:pPr>
            <a:endParaRPr lang="id-ID" sz="1800" dirty="0">
              <a:latin typeface="JetBrains Mono" panose="02000009000000000000" pitchFamily="49" charset="0"/>
              <a:cs typeface="JetBrains Mono" panose="02000009000000000000" pitchFamily="49" charset="0"/>
            </a:endParaRPr>
          </a:p>
          <a:p>
            <a:pPr marL="0" indent="0">
              <a:buNone/>
            </a:pPr>
            <a:r>
              <a:rPr lang="id-ID" sz="1800" dirty="0">
                <a:latin typeface="JetBrains Mono" panose="02000009000000000000" pitchFamily="49" charset="0"/>
                <a:cs typeface="JetBrains Mono" panose="02000009000000000000" pitchFamily="49" charset="0"/>
              </a:rPr>
              <a:t>Artinya, kita akan memberikan jarak Gutter untuk kolom sebesar 2.</a:t>
            </a:r>
          </a:p>
        </p:txBody>
      </p:sp>
    </p:spTree>
    <p:extLst>
      <p:ext uri="{BB962C8B-B14F-4D97-AF65-F5344CB8AC3E}">
        <p14:creationId xmlns:p14="http://schemas.microsoft.com/office/powerpoint/2010/main" val="8027318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232DE-E1C5-4234-ACF7-2B3DADEEB1F1}"/>
              </a:ext>
            </a:extLst>
          </p:cNvPr>
          <p:cNvSpPr>
            <a:spLocks noGrp="1"/>
          </p:cNvSpPr>
          <p:nvPr>
            <p:ph type="title"/>
          </p:nvPr>
        </p:nvSpPr>
        <p:spPr>
          <a:xfrm>
            <a:off x="1141413" y="618518"/>
            <a:ext cx="9905998" cy="812717"/>
          </a:xfrm>
        </p:spPr>
        <p:txBody>
          <a:bodyPr/>
          <a:lstStyle/>
          <a:p>
            <a:r>
              <a:rPr lang="en-US" dirty="0" err="1"/>
              <a:t>Contoh</a:t>
            </a:r>
            <a:r>
              <a:rPr lang="en-US" dirty="0"/>
              <a:t> </a:t>
            </a:r>
            <a:r>
              <a:rPr lang="en-US" dirty="0" err="1"/>
              <a:t>lagi</a:t>
            </a:r>
            <a:endParaRPr lang="id-ID" dirty="0"/>
          </a:p>
        </p:txBody>
      </p:sp>
      <p:sp>
        <p:nvSpPr>
          <p:cNvPr id="3" name="Content Placeholder 2">
            <a:extLst>
              <a:ext uri="{FF2B5EF4-FFF2-40B4-BE49-F238E27FC236}">
                <a16:creationId xmlns:a16="http://schemas.microsoft.com/office/drawing/2014/main" id="{2B78DC83-402E-42E0-A89F-A70AC979B93A}"/>
              </a:ext>
            </a:extLst>
          </p:cNvPr>
          <p:cNvSpPr>
            <a:spLocks noGrp="1"/>
          </p:cNvSpPr>
          <p:nvPr>
            <p:ph idx="1"/>
          </p:nvPr>
        </p:nvSpPr>
        <p:spPr>
          <a:xfrm>
            <a:off x="1141412" y="1431234"/>
            <a:ext cx="9905999" cy="4678017"/>
          </a:xfrm>
        </p:spPr>
        <p:txBody>
          <a:bodyPr numCol="2">
            <a:normAutofit fontScale="92500"/>
          </a:bodyPr>
          <a:lstStyle/>
          <a:p>
            <a:pPr marL="0" indent="0">
              <a:buNone/>
            </a:pPr>
            <a:r>
              <a:rPr lang="id-ID" sz="1000" dirty="0">
                <a:latin typeface="JetBrains Mono" panose="02000009000000000000" pitchFamily="49" charset="0"/>
                <a:cs typeface="JetBrains Mono" panose="02000009000000000000" pitchFamily="49" charset="0"/>
              </a:rPr>
              <a:t>    &lt;div class="container"&gt;</a:t>
            </a:r>
          </a:p>
          <a:p>
            <a:pPr marL="0" indent="0">
              <a:buNone/>
            </a:pPr>
            <a:r>
              <a:rPr lang="id-ID" sz="1000" dirty="0">
                <a:latin typeface="JetBrains Mono" panose="02000009000000000000" pitchFamily="49" charset="0"/>
                <a:cs typeface="JetBrains Mono" panose="02000009000000000000" pitchFamily="49" charset="0"/>
              </a:rPr>
              <a:t>      &lt;div class="my-5 row g-0"&gt;</a:t>
            </a:r>
          </a:p>
          <a:p>
            <a:pPr marL="0" indent="0">
              <a:buNone/>
            </a:pPr>
            <a:r>
              <a:rPr lang="id-ID" sz="1000" dirty="0">
                <a:latin typeface="JetBrains Mono" panose="02000009000000000000" pitchFamily="49" charset="0"/>
                <a:cs typeface="JetBrains Mono" panose="02000009000000000000" pitchFamily="49" charset="0"/>
              </a:rPr>
              <a:t>        &lt;div class="col-md-3"&gt;</a:t>
            </a:r>
          </a:p>
          <a:p>
            <a:pPr marL="0" indent="0">
              <a:buNone/>
            </a:pPr>
            <a:r>
              <a:rPr lang="id-ID" sz="1000" dirty="0">
                <a:latin typeface="JetBrains Mono" panose="02000009000000000000" pitchFamily="49" charset="0"/>
                <a:cs typeface="JetBrains Mono" panose="02000009000000000000" pitchFamily="49" charset="0"/>
              </a:rPr>
              <a:t>          &lt;img class="w-100" src="img/zwi.jpg" alt="contoh-gambar" /&gt;</a:t>
            </a:r>
          </a:p>
          <a:p>
            <a:pPr marL="0" indent="0">
              <a:buNone/>
            </a:pPr>
            <a:r>
              <a:rPr lang="id-ID" sz="1000" dirty="0">
                <a:latin typeface="JetBrains Mono" panose="02000009000000000000" pitchFamily="49" charset="0"/>
                <a:cs typeface="JetBrains Mono" panose="02000009000000000000" pitchFamily="49" charset="0"/>
              </a:rPr>
              <a:t>        &lt;/div&gt;</a:t>
            </a:r>
          </a:p>
          <a:p>
            <a:pPr marL="0" indent="0">
              <a:buNone/>
            </a:pPr>
            <a:r>
              <a:rPr lang="id-ID" sz="1000" dirty="0">
                <a:latin typeface="JetBrains Mono" panose="02000009000000000000" pitchFamily="49" charset="0"/>
                <a:cs typeface="JetBrains Mono" panose="02000009000000000000" pitchFamily="49" charset="0"/>
              </a:rPr>
              <a:t>        &lt;div class="col-md-3"&gt;</a:t>
            </a:r>
          </a:p>
          <a:p>
            <a:pPr marL="0" indent="0">
              <a:buNone/>
            </a:pPr>
            <a:r>
              <a:rPr lang="id-ID" sz="1000" dirty="0">
                <a:latin typeface="JetBrains Mono" panose="02000009000000000000" pitchFamily="49" charset="0"/>
                <a:cs typeface="JetBrains Mono" panose="02000009000000000000" pitchFamily="49" charset="0"/>
              </a:rPr>
              <a:t>          &lt;img class="w-100" src="img/zwi.jpg" alt="contoh-gambar" /&gt;</a:t>
            </a:r>
          </a:p>
          <a:p>
            <a:pPr marL="0" indent="0">
              <a:buNone/>
            </a:pPr>
            <a:r>
              <a:rPr lang="id-ID" sz="1000" dirty="0">
                <a:latin typeface="JetBrains Mono" panose="02000009000000000000" pitchFamily="49" charset="0"/>
                <a:cs typeface="JetBrains Mono" panose="02000009000000000000" pitchFamily="49" charset="0"/>
              </a:rPr>
              <a:t>        &lt;/div&gt;</a:t>
            </a:r>
          </a:p>
          <a:p>
            <a:pPr marL="0" indent="0">
              <a:buNone/>
            </a:pPr>
            <a:r>
              <a:rPr lang="id-ID" sz="1000" dirty="0">
                <a:latin typeface="JetBrains Mono" panose="02000009000000000000" pitchFamily="49" charset="0"/>
                <a:cs typeface="JetBrains Mono" panose="02000009000000000000" pitchFamily="49" charset="0"/>
              </a:rPr>
              <a:t>        &lt;div class="col-md-3"&gt;</a:t>
            </a:r>
          </a:p>
          <a:p>
            <a:pPr marL="0" indent="0">
              <a:buNone/>
            </a:pPr>
            <a:r>
              <a:rPr lang="id-ID" sz="1000" dirty="0">
                <a:latin typeface="JetBrains Mono" panose="02000009000000000000" pitchFamily="49" charset="0"/>
                <a:cs typeface="JetBrains Mono" panose="02000009000000000000" pitchFamily="49" charset="0"/>
              </a:rPr>
              <a:t>          &lt;img class="w-100" src="img/zwi.jpg" alt="contoh-gambar" /&gt;</a:t>
            </a:r>
          </a:p>
          <a:p>
            <a:pPr marL="0" indent="0">
              <a:buNone/>
            </a:pPr>
            <a:r>
              <a:rPr lang="id-ID" sz="1000" dirty="0">
                <a:latin typeface="JetBrains Mono" panose="02000009000000000000" pitchFamily="49" charset="0"/>
                <a:cs typeface="JetBrains Mono" panose="02000009000000000000" pitchFamily="49" charset="0"/>
              </a:rPr>
              <a:t>        &lt;/div&gt;</a:t>
            </a:r>
          </a:p>
          <a:p>
            <a:pPr marL="0" indent="0">
              <a:buNone/>
            </a:pPr>
            <a:r>
              <a:rPr lang="id-ID" sz="1000" dirty="0">
                <a:latin typeface="JetBrains Mono" panose="02000009000000000000" pitchFamily="49" charset="0"/>
                <a:cs typeface="JetBrains Mono" panose="02000009000000000000" pitchFamily="49" charset="0"/>
              </a:rPr>
              <a:t>        &lt;div class="col-md-3"&gt;</a:t>
            </a:r>
          </a:p>
          <a:p>
            <a:pPr marL="0" indent="0">
              <a:buNone/>
            </a:pPr>
            <a:r>
              <a:rPr lang="id-ID" sz="1000" dirty="0">
                <a:latin typeface="JetBrains Mono" panose="02000009000000000000" pitchFamily="49" charset="0"/>
                <a:cs typeface="JetBrains Mono" panose="02000009000000000000" pitchFamily="49" charset="0"/>
              </a:rPr>
              <a:t>          &lt;img class="w-100" src="img/zwi.jpg" alt="contoh-gambar" /&gt;</a:t>
            </a:r>
          </a:p>
          <a:p>
            <a:pPr marL="0" indent="0">
              <a:buNone/>
            </a:pPr>
            <a:r>
              <a:rPr lang="id-ID" sz="1000" dirty="0">
                <a:latin typeface="JetBrains Mono" panose="02000009000000000000" pitchFamily="49" charset="0"/>
                <a:cs typeface="JetBrains Mono" panose="02000009000000000000" pitchFamily="49" charset="0"/>
              </a:rPr>
              <a:t>        &lt;/div&gt;</a:t>
            </a:r>
          </a:p>
          <a:p>
            <a:pPr marL="0" indent="0">
              <a:buNone/>
            </a:pPr>
            <a:r>
              <a:rPr lang="id-ID" sz="1000" dirty="0">
                <a:latin typeface="JetBrains Mono" panose="02000009000000000000" pitchFamily="49" charset="0"/>
                <a:cs typeface="JetBrains Mono" panose="02000009000000000000" pitchFamily="49" charset="0"/>
              </a:rPr>
              <a:t>        &lt;div class="col-md-3"&gt;</a:t>
            </a:r>
          </a:p>
          <a:p>
            <a:pPr marL="0" indent="0">
              <a:buNone/>
            </a:pPr>
            <a:r>
              <a:rPr lang="id-ID" sz="1000" dirty="0">
                <a:latin typeface="JetBrains Mono" panose="02000009000000000000" pitchFamily="49" charset="0"/>
                <a:cs typeface="JetBrains Mono" panose="02000009000000000000" pitchFamily="49" charset="0"/>
              </a:rPr>
              <a:t>          &lt;img class="w-100" src="img/zwi.jpg" alt="contoh-gambar" /&gt;</a:t>
            </a:r>
          </a:p>
          <a:p>
            <a:pPr marL="0" indent="0">
              <a:buNone/>
            </a:pPr>
            <a:r>
              <a:rPr lang="id-ID" sz="1000" dirty="0">
                <a:latin typeface="JetBrains Mono" panose="02000009000000000000" pitchFamily="49" charset="0"/>
                <a:cs typeface="JetBrains Mono" panose="02000009000000000000" pitchFamily="49" charset="0"/>
              </a:rPr>
              <a:t>        &lt;/div&gt;</a:t>
            </a:r>
          </a:p>
          <a:p>
            <a:pPr marL="0" indent="0">
              <a:buNone/>
            </a:pPr>
            <a:r>
              <a:rPr lang="id-ID" sz="1000" dirty="0">
                <a:latin typeface="JetBrains Mono" panose="02000009000000000000" pitchFamily="49" charset="0"/>
                <a:cs typeface="JetBrains Mono" panose="02000009000000000000" pitchFamily="49" charset="0"/>
              </a:rPr>
              <a:t>        &lt;div class="col-md-3"&gt;</a:t>
            </a:r>
          </a:p>
          <a:p>
            <a:pPr marL="0" indent="0">
              <a:buNone/>
            </a:pPr>
            <a:r>
              <a:rPr lang="id-ID" sz="1000" dirty="0">
                <a:latin typeface="JetBrains Mono" panose="02000009000000000000" pitchFamily="49" charset="0"/>
                <a:cs typeface="JetBrains Mono" panose="02000009000000000000" pitchFamily="49" charset="0"/>
              </a:rPr>
              <a:t>          &lt;img class="w-100" src="img/zwi.jpg" alt="contoh-gambar" /&gt;</a:t>
            </a:r>
          </a:p>
          <a:p>
            <a:pPr marL="0" indent="0">
              <a:buNone/>
            </a:pPr>
            <a:r>
              <a:rPr lang="id-ID" sz="1000" dirty="0">
                <a:latin typeface="JetBrains Mono" panose="02000009000000000000" pitchFamily="49" charset="0"/>
                <a:cs typeface="JetBrains Mono" panose="02000009000000000000" pitchFamily="49" charset="0"/>
              </a:rPr>
              <a:t>        &lt;/div&gt;</a:t>
            </a:r>
          </a:p>
          <a:p>
            <a:pPr marL="0" indent="0">
              <a:buNone/>
            </a:pPr>
            <a:r>
              <a:rPr lang="id-ID" sz="1000" dirty="0">
                <a:latin typeface="JetBrains Mono" panose="02000009000000000000" pitchFamily="49" charset="0"/>
                <a:cs typeface="JetBrains Mono" panose="02000009000000000000" pitchFamily="49" charset="0"/>
              </a:rPr>
              <a:t>        &lt;div class="col-md-3"&gt;</a:t>
            </a:r>
          </a:p>
          <a:p>
            <a:pPr marL="0" indent="0">
              <a:buNone/>
            </a:pPr>
            <a:r>
              <a:rPr lang="id-ID" sz="1000" dirty="0">
                <a:latin typeface="JetBrains Mono" panose="02000009000000000000" pitchFamily="49" charset="0"/>
                <a:cs typeface="JetBrains Mono" panose="02000009000000000000" pitchFamily="49" charset="0"/>
              </a:rPr>
              <a:t>          &lt;img class="w-100" src="img/zwi.jpg" alt="contoh-gambar" /&gt;</a:t>
            </a:r>
          </a:p>
          <a:p>
            <a:pPr marL="0" indent="0">
              <a:buNone/>
            </a:pPr>
            <a:r>
              <a:rPr lang="id-ID" sz="1000" dirty="0">
                <a:latin typeface="JetBrains Mono" panose="02000009000000000000" pitchFamily="49" charset="0"/>
                <a:cs typeface="JetBrains Mono" panose="02000009000000000000" pitchFamily="49" charset="0"/>
              </a:rPr>
              <a:t>        &lt;/div&gt;</a:t>
            </a:r>
          </a:p>
          <a:p>
            <a:pPr marL="0" indent="0">
              <a:buNone/>
            </a:pPr>
            <a:r>
              <a:rPr lang="id-ID" sz="1000" dirty="0">
                <a:latin typeface="JetBrains Mono" panose="02000009000000000000" pitchFamily="49" charset="0"/>
                <a:cs typeface="JetBrains Mono" panose="02000009000000000000" pitchFamily="49" charset="0"/>
              </a:rPr>
              <a:t>        &lt;div class="col-md-3"&gt;</a:t>
            </a:r>
          </a:p>
          <a:p>
            <a:pPr marL="0" indent="0">
              <a:buNone/>
            </a:pPr>
            <a:r>
              <a:rPr lang="id-ID" sz="1000" dirty="0">
                <a:latin typeface="JetBrains Mono" panose="02000009000000000000" pitchFamily="49" charset="0"/>
                <a:cs typeface="JetBrains Mono" panose="02000009000000000000" pitchFamily="49" charset="0"/>
              </a:rPr>
              <a:t>          &lt;img class="w-100" src="img/zwi.jpg" alt="contoh-gambar" /&gt;</a:t>
            </a:r>
          </a:p>
          <a:p>
            <a:pPr marL="0" indent="0">
              <a:buNone/>
            </a:pPr>
            <a:r>
              <a:rPr lang="id-ID" sz="1000" dirty="0">
                <a:latin typeface="JetBrains Mono" panose="02000009000000000000" pitchFamily="49" charset="0"/>
                <a:cs typeface="JetBrains Mono" panose="02000009000000000000" pitchFamily="49" charset="0"/>
              </a:rPr>
              <a:t>        &lt;/div&gt;</a:t>
            </a:r>
          </a:p>
          <a:p>
            <a:pPr marL="0" indent="0">
              <a:buNone/>
            </a:pPr>
            <a:r>
              <a:rPr lang="id-ID" sz="1000" dirty="0">
                <a:latin typeface="JetBrains Mono" panose="02000009000000000000" pitchFamily="49" charset="0"/>
                <a:cs typeface="JetBrains Mono" panose="02000009000000000000" pitchFamily="49" charset="0"/>
              </a:rPr>
              <a:t>      &lt;/div&gt;</a:t>
            </a:r>
          </a:p>
          <a:p>
            <a:pPr marL="0" indent="0">
              <a:buNone/>
            </a:pPr>
            <a:r>
              <a:rPr lang="id-ID" sz="1000" dirty="0">
                <a:latin typeface="JetBrains Mono" panose="02000009000000000000" pitchFamily="49" charset="0"/>
                <a:cs typeface="JetBrains Mono" panose="02000009000000000000" pitchFamily="49" charset="0"/>
              </a:rPr>
              <a:t>    &lt;/div&gt;</a:t>
            </a:r>
          </a:p>
        </p:txBody>
      </p:sp>
    </p:spTree>
    <p:extLst>
      <p:ext uri="{BB962C8B-B14F-4D97-AF65-F5344CB8AC3E}">
        <p14:creationId xmlns:p14="http://schemas.microsoft.com/office/powerpoint/2010/main" val="2340266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48538-8173-46BF-A869-AC6D65BDAC00}"/>
              </a:ext>
            </a:extLst>
          </p:cNvPr>
          <p:cNvSpPr>
            <a:spLocks noGrp="1"/>
          </p:cNvSpPr>
          <p:nvPr>
            <p:ph type="title"/>
          </p:nvPr>
        </p:nvSpPr>
        <p:spPr>
          <a:xfrm>
            <a:off x="1141413" y="618518"/>
            <a:ext cx="9905998" cy="719952"/>
          </a:xfrm>
        </p:spPr>
        <p:txBody>
          <a:bodyPr/>
          <a:lstStyle/>
          <a:p>
            <a:r>
              <a:rPr lang="en-US" dirty="0" err="1">
                <a:latin typeface="JetBrains Mono" panose="02000009000000000000" pitchFamily="49" charset="0"/>
                <a:cs typeface="JetBrains Mono" panose="02000009000000000000" pitchFamily="49" charset="0"/>
              </a:rPr>
              <a:t>hasilnya</a:t>
            </a:r>
            <a:endParaRPr lang="id-ID" dirty="0">
              <a:latin typeface="JetBrains Mono" panose="02000009000000000000" pitchFamily="49" charset="0"/>
              <a:cs typeface="JetBrains Mono" panose="02000009000000000000" pitchFamily="49" charset="0"/>
            </a:endParaRPr>
          </a:p>
        </p:txBody>
      </p:sp>
      <p:pic>
        <p:nvPicPr>
          <p:cNvPr id="5" name="Content Placeholder 4">
            <a:extLst>
              <a:ext uri="{FF2B5EF4-FFF2-40B4-BE49-F238E27FC236}">
                <a16:creationId xmlns:a16="http://schemas.microsoft.com/office/drawing/2014/main" id="{7A51947B-F81B-42F6-B8A4-CD275DEC96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1413" y="1338263"/>
            <a:ext cx="9905997" cy="5036033"/>
          </a:xfrm>
        </p:spPr>
      </p:pic>
    </p:spTree>
    <p:extLst>
      <p:ext uri="{BB962C8B-B14F-4D97-AF65-F5344CB8AC3E}">
        <p14:creationId xmlns:p14="http://schemas.microsoft.com/office/powerpoint/2010/main" val="23309679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3D45C-B337-4E12-BBF6-E8E186F7B264}"/>
              </a:ext>
            </a:extLst>
          </p:cNvPr>
          <p:cNvSpPr>
            <a:spLocks noGrp="1"/>
          </p:cNvSpPr>
          <p:nvPr>
            <p:ph type="title"/>
          </p:nvPr>
        </p:nvSpPr>
        <p:spPr>
          <a:xfrm>
            <a:off x="1141413" y="618518"/>
            <a:ext cx="9905998" cy="799465"/>
          </a:xfrm>
        </p:spPr>
        <p:txBody>
          <a:bodyPr>
            <a:normAutofit fontScale="90000"/>
          </a:bodyPr>
          <a:lstStyle/>
          <a:p>
            <a:r>
              <a:rPr lang="id-ID" sz="2400" cap="none" dirty="0">
                <a:latin typeface="JetBrains Mono" panose="02000009000000000000" pitchFamily="49" charset="0"/>
                <a:cs typeface="JetBrains Mono" panose="02000009000000000000" pitchFamily="49" charset="0"/>
              </a:rPr>
              <a:t>Sekarang coba ubah g-0 menjadi g-5 untuk memberikan jarak sebesar 5.</a:t>
            </a:r>
            <a:br>
              <a:rPr lang="id-ID" sz="2400" cap="none" dirty="0">
                <a:latin typeface="JetBrains Mono" panose="02000009000000000000" pitchFamily="49" charset="0"/>
                <a:cs typeface="JetBrains Mono" panose="02000009000000000000" pitchFamily="49" charset="0"/>
              </a:rPr>
            </a:br>
            <a:r>
              <a:rPr lang="id-ID" sz="2400" cap="none" dirty="0">
                <a:latin typeface="JetBrains Mono" panose="02000009000000000000" pitchFamily="49" charset="0"/>
                <a:cs typeface="JetBrains Mono" panose="02000009000000000000" pitchFamily="49" charset="0"/>
              </a:rPr>
              <a:t>Maka hasilnya:</a:t>
            </a:r>
          </a:p>
        </p:txBody>
      </p:sp>
      <p:pic>
        <p:nvPicPr>
          <p:cNvPr id="5" name="Content Placeholder 4">
            <a:extLst>
              <a:ext uri="{FF2B5EF4-FFF2-40B4-BE49-F238E27FC236}">
                <a16:creationId xmlns:a16="http://schemas.microsoft.com/office/drawing/2014/main" id="{ACBEB43D-3722-4B2C-87B6-78878D857F71}"/>
              </a:ext>
            </a:extLst>
          </p:cNvPr>
          <p:cNvPicPr>
            <a:picLocks noGrp="1" noChangeAspect="1"/>
          </p:cNvPicPr>
          <p:nvPr>
            <p:ph idx="1"/>
          </p:nvPr>
        </p:nvPicPr>
        <p:blipFill>
          <a:blip r:embed="rId2"/>
          <a:stretch>
            <a:fillRect/>
          </a:stretch>
        </p:blipFill>
        <p:spPr>
          <a:xfrm>
            <a:off x="1141413" y="1563757"/>
            <a:ext cx="9905998" cy="5102086"/>
          </a:xfrm>
        </p:spPr>
      </p:pic>
    </p:spTree>
    <p:extLst>
      <p:ext uri="{BB962C8B-B14F-4D97-AF65-F5344CB8AC3E}">
        <p14:creationId xmlns:p14="http://schemas.microsoft.com/office/powerpoint/2010/main" val="10587771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141</TotalTime>
  <Words>1447</Words>
  <Application>Microsoft Office PowerPoint</Application>
  <PresentationFormat>Widescreen</PresentationFormat>
  <Paragraphs>146</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JetBrains Mono</vt:lpstr>
      <vt:lpstr>Tw Cen MT</vt:lpstr>
      <vt:lpstr>Circuit</vt:lpstr>
      <vt:lpstr>Memahami Sistem Grid untuk membuat Layout</vt:lpstr>
      <vt:lpstr>PowerPoint Presentation</vt:lpstr>
      <vt:lpstr>Apa itu Sistem Grid di Bootstrap?</vt:lpstr>
      <vt:lpstr>PowerPoint Presentation</vt:lpstr>
      <vt:lpstr>Memahami breakpoint</vt:lpstr>
      <vt:lpstr>Perhatikan gambar berikut</vt:lpstr>
      <vt:lpstr>PowerPoint Presentation</vt:lpstr>
      <vt:lpstr>contoh</vt:lpstr>
      <vt:lpstr>PowerPoint Presentation</vt:lpstr>
      <vt:lpstr>PowerPoint Presentation</vt:lpstr>
      <vt:lpstr>PowerPoint Presentation</vt:lpstr>
      <vt:lpstr>Class container</vt:lpstr>
      <vt:lpstr>PowerPoint Presentation</vt:lpstr>
      <vt:lpstr>PowerPoint Presentation</vt:lpstr>
      <vt:lpstr>hasilnya</vt:lpstr>
      <vt:lpstr>jika class container dihapus</vt:lpstr>
      <vt:lpstr>PowerPoint Presentation</vt:lpstr>
      <vt:lpstr>PowerPoint Presentation</vt:lpstr>
      <vt:lpstr>class row dan col</vt:lpstr>
      <vt:lpstr>PowerPoint Presentation</vt:lpstr>
      <vt:lpstr>contoh penggunaan</vt:lpstr>
      <vt:lpstr>class gutter</vt:lpstr>
      <vt:lpstr>contoh</vt:lpstr>
      <vt:lpstr>Contoh lagi</vt:lpstr>
      <vt:lpstr>hasilnya</vt:lpstr>
      <vt:lpstr>Sekarang coba ubah g-0 menjadi g-5 untuk memberikan jarak sebesar 5. Maka hasilnya: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Memahami Sistem Grid untuk membuat Layout</dc:title>
  <dc:creator>Fauzan Hendro</dc:creator>
  <cp:lastModifiedBy>Fauzan Hendro</cp:lastModifiedBy>
  <cp:revision>13</cp:revision>
  <dcterms:created xsi:type="dcterms:W3CDTF">2024-10-21T06:26:37Z</dcterms:created>
  <dcterms:modified xsi:type="dcterms:W3CDTF">2024-10-22T07:26:34Z</dcterms:modified>
</cp:coreProperties>
</file>