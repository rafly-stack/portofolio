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0" r:id="rId4"/>
    <p:sldId id="261" r:id="rId5"/>
    <p:sldId id="258" r:id="rId6"/>
    <p:sldId id="262" r:id="rId7"/>
    <p:sldId id="259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88B0848A-0029-46FD-8B08-577B2DDC5AC7}" type="datetimeFigureOut">
              <a:rPr lang="id-ID" smtClean="0"/>
              <a:t>17/07/2024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32AF1216-D9A5-4CFE-98E2-B78485932C74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8055038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0848A-0029-46FD-8B08-577B2DDC5AC7}" type="datetimeFigureOut">
              <a:rPr lang="id-ID" smtClean="0"/>
              <a:t>17/07/2024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F1216-D9A5-4CFE-98E2-B78485932C74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5758396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0848A-0029-46FD-8B08-577B2DDC5AC7}" type="datetimeFigureOut">
              <a:rPr lang="id-ID" smtClean="0"/>
              <a:t>17/07/2024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F1216-D9A5-4CFE-98E2-B78485932C74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9884946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0848A-0029-46FD-8B08-577B2DDC5AC7}" type="datetimeFigureOut">
              <a:rPr lang="id-ID" smtClean="0"/>
              <a:t>17/07/2024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F1216-D9A5-4CFE-98E2-B78485932C74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8781084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0848A-0029-46FD-8B08-577B2DDC5AC7}" type="datetimeFigureOut">
              <a:rPr lang="id-ID" smtClean="0"/>
              <a:t>17/07/2024</a:t>
            </a:fld>
            <a:endParaRPr lang="id-ID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F1216-D9A5-4CFE-98E2-B78485932C74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6513768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0848A-0029-46FD-8B08-577B2DDC5AC7}" type="datetimeFigureOut">
              <a:rPr lang="id-ID" smtClean="0"/>
              <a:t>17/07/2024</a:t>
            </a:fld>
            <a:endParaRPr lang="id-ID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F1216-D9A5-4CFE-98E2-B78485932C74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6890253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0848A-0029-46FD-8B08-577B2DDC5AC7}" type="datetimeFigureOut">
              <a:rPr lang="id-ID" smtClean="0"/>
              <a:t>17/07/2024</a:t>
            </a:fld>
            <a:endParaRPr lang="id-ID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F1216-D9A5-4CFE-98E2-B78485932C74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2278117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0848A-0029-46FD-8B08-577B2DDC5AC7}" type="datetimeFigureOut">
              <a:rPr lang="id-ID" smtClean="0"/>
              <a:t>17/07/2024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F1216-D9A5-4CFE-98E2-B78485932C74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42452514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0848A-0029-46FD-8B08-577B2DDC5AC7}" type="datetimeFigureOut">
              <a:rPr lang="id-ID" smtClean="0"/>
              <a:t>17/07/2024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F1216-D9A5-4CFE-98E2-B78485932C74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42156420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0848A-0029-46FD-8B08-577B2DDC5AC7}" type="datetimeFigureOut">
              <a:rPr lang="id-ID" smtClean="0"/>
              <a:t>17/07/2024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F1216-D9A5-4CFE-98E2-B78485932C74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4403365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0848A-0029-46FD-8B08-577B2DDC5AC7}" type="datetimeFigureOut">
              <a:rPr lang="id-ID" smtClean="0"/>
              <a:t>17/07/2024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F1216-D9A5-4CFE-98E2-B78485932C74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2973228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0848A-0029-46FD-8B08-577B2DDC5AC7}" type="datetimeFigureOut">
              <a:rPr lang="id-ID" smtClean="0"/>
              <a:t>17/07/2024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F1216-D9A5-4CFE-98E2-B78485932C74}" type="slidenum">
              <a:rPr lang="id-ID" smtClean="0"/>
              <a:t>‹#›</a:t>
            </a:fld>
            <a:endParaRPr lang="id-ID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698866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0848A-0029-46FD-8B08-577B2DDC5AC7}" type="datetimeFigureOut">
              <a:rPr lang="id-ID" smtClean="0"/>
              <a:t>17/07/2024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F1216-D9A5-4CFE-98E2-B78485932C74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69590872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0848A-0029-46FD-8B08-577B2DDC5AC7}" type="datetimeFigureOut">
              <a:rPr lang="id-ID" smtClean="0"/>
              <a:t>17/07/2024</a:t>
            </a:fld>
            <a:endParaRPr lang="id-ID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F1216-D9A5-4CFE-98E2-B78485932C74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5527146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0848A-0029-46FD-8B08-577B2DDC5AC7}" type="datetimeFigureOut">
              <a:rPr lang="id-ID" smtClean="0"/>
              <a:t>17/07/2024</a:t>
            </a:fld>
            <a:endParaRPr lang="id-ID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F1216-D9A5-4CFE-98E2-B78485932C74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34090951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0848A-0029-46FD-8B08-577B2DDC5AC7}" type="datetimeFigureOut">
              <a:rPr lang="id-ID" smtClean="0"/>
              <a:t>17/07/2024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F1216-D9A5-4CFE-98E2-B78485932C74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61080720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0848A-0029-46FD-8B08-577B2DDC5AC7}" type="datetimeFigureOut">
              <a:rPr lang="id-ID" smtClean="0"/>
              <a:t>17/07/2024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F1216-D9A5-4CFE-98E2-B78485932C74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8508209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B0848A-0029-46FD-8B08-577B2DDC5AC7}" type="datetimeFigureOut">
              <a:rPr lang="id-ID" smtClean="0"/>
              <a:t>17/07/2024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AF1216-D9A5-4CFE-98E2-B78485932C74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423403795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999282-BFFA-4772-9591-FF44CDFDBB0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HTML 2</a:t>
            </a:r>
            <a:endParaRPr lang="id-ID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DC42CE-3C4B-4FB0-A45B-E9CB57111E4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/>
              <a:t>Pengenalan</a:t>
            </a:r>
            <a:r>
              <a:rPr lang="en-US" dirty="0"/>
              <a:t> tag, </a:t>
            </a:r>
            <a:r>
              <a:rPr lang="en-US" dirty="0" err="1"/>
              <a:t>elemen</a:t>
            </a:r>
            <a:r>
              <a:rPr lang="en-US" dirty="0"/>
              <a:t> dan </a:t>
            </a:r>
            <a:r>
              <a:rPr lang="en-US" dirty="0" err="1"/>
              <a:t>atribut</a:t>
            </a:r>
            <a:r>
              <a:rPr lang="en-US" dirty="0"/>
              <a:t> html</a:t>
            </a: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26220456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D25E76-23F8-4439-B206-80D79D7FE8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Apa</a:t>
            </a:r>
            <a:r>
              <a:rPr lang="en-US" dirty="0"/>
              <a:t> </a:t>
            </a:r>
            <a:r>
              <a:rPr lang="en-US" dirty="0" err="1"/>
              <a:t>itu</a:t>
            </a:r>
            <a:r>
              <a:rPr lang="en-US" dirty="0"/>
              <a:t> tag ?</a:t>
            </a:r>
            <a:endParaRPr lang="id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3C39A5-BB1C-4781-9EB1-3E5EB252D5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8781502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C53C9F-C1F0-4ADB-A8F8-4F0D423AA2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tag</a:t>
            </a:r>
            <a:endParaRPr lang="id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6021A4-F1DA-4722-9DB6-C82BD7D60A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658143"/>
            <a:ext cx="9905999" cy="3541714"/>
          </a:xfrm>
        </p:spPr>
        <p:txBody>
          <a:bodyPr/>
          <a:lstStyle/>
          <a:p>
            <a:r>
              <a:rPr lang="id-ID" dirty="0"/>
              <a:t>Tag adalah sebuah penanda awalan dan akhiran dari sebuah elemen di HTML. Tag dibuat dengan kurung sudut (&lt;</a:t>
            </a:r>
            <a:r>
              <a:rPr lang="en-US" dirty="0"/>
              <a:t>......</a:t>
            </a:r>
            <a:r>
              <a:rPr lang="id-ID" dirty="0"/>
              <a:t>&gt;), lalu di dalamnya berisi nama tag dan kadang juga ditambahkan dengan atribut.</a:t>
            </a:r>
            <a:endParaRPr lang="en-US" dirty="0"/>
          </a:p>
          <a:p>
            <a:r>
              <a:rPr lang="id-ID" dirty="0"/>
              <a:t>Tag selalu ditulis berpasangan.</a:t>
            </a:r>
            <a:r>
              <a:rPr lang="en-US" dirty="0"/>
              <a:t> </a:t>
            </a:r>
            <a:r>
              <a:rPr lang="sv-SE" dirty="0"/>
              <a:t>Tag penutup ditulis dengan menambahkan garis miring (/) di depan nama tag. Contoh :</a:t>
            </a:r>
          </a:p>
          <a:p>
            <a:pPr marL="0" indent="0">
              <a:buNone/>
            </a:pPr>
            <a:endParaRPr lang="id-ID" dirty="0"/>
          </a:p>
        </p:txBody>
      </p:sp>
      <p:pic>
        <p:nvPicPr>
          <p:cNvPr id="1026" name="Picture 2" descr="Penulisan tag pada HTML">
            <a:extLst>
              <a:ext uri="{FF2B5EF4-FFF2-40B4-BE49-F238E27FC236}">
                <a16:creationId xmlns:a16="http://schemas.microsoft.com/office/drawing/2014/main" id="{BF443C50-3F99-4878-99E2-4BD6DA27AD4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13" t="13357" r="8750" b="14140"/>
          <a:stretch/>
        </p:blipFill>
        <p:spPr bwMode="auto">
          <a:xfrm>
            <a:off x="1484243" y="4130627"/>
            <a:ext cx="4810539" cy="23894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917048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C53C9F-C1F0-4ADB-A8F8-4F0D423AA2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Tag – TAG </a:t>
            </a:r>
            <a:r>
              <a:rPr lang="en-US" dirty="0" err="1"/>
              <a:t>dasar</a:t>
            </a:r>
            <a:r>
              <a:rPr lang="en-US" dirty="0"/>
              <a:t> dan </a:t>
            </a:r>
            <a:r>
              <a:rPr lang="en-US" dirty="0" err="1"/>
              <a:t>wajib</a:t>
            </a:r>
            <a:r>
              <a:rPr lang="en-US" dirty="0"/>
              <a:t> di html</a:t>
            </a:r>
            <a:endParaRPr lang="id-ID" dirty="0"/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67D568F8-4A67-4E6C-8977-F1B8D7DB7E8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9304579"/>
              </p:ext>
            </p:extLst>
          </p:nvPr>
        </p:nvGraphicFramePr>
        <p:xfrm>
          <a:off x="1141413" y="2249488"/>
          <a:ext cx="9906000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53000">
                  <a:extLst>
                    <a:ext uri="{9D8B030D-6E8A-4147-A177-3AD203B41FA5}">
                      <a16:colId xmlns:a16="http://schemas.microsoft.com/office/drawing/2014/main" val="4196013964"/>
                    </a:ext>
                  </a:extLst>
                </a:gridCol>
                <a:gridCol w="4953000">
                  <a:extLst>
                    <a:ext uri="{9D8B030D-6E8A-4147-A177-3AD203B41FA5}">
                      <a16:colId xmlns:a16="http://schemas.microsoft.com/office/drawing/2014/main" val="152016026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TAG</a:t>
                      </a:r>
                      <a:endParaRPr lang="id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Fungsi</a:t>
                      </a:r>
                      <a:endParaRPr lang="id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91123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&lt;!DOCTYPE html&gt;</a:t>
                      </a:r>
                      <a:endParaRPr lang="id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Untuk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deklarasi</a:t>
                      </a:r>
                      <a:r>
                        <a:rPr lang="en-US" dirty="0"/>
                        <a:t> type </a:t>
                      </a:r>
                      <a:r>
                        <a:rPr lang="en-US" dirty="0" err="1"/>
                        <a:t>dokumen</a:t>
                      </a:r>
                      <a:endParaRPr lang="id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68914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&lt;html&gt;</a:t>
                      </a:r>
                      <a:endParaRPr lang="id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Memulai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dokumenhtml</a:t>
                      </a:r>
                      <a:endParaRPr lang="id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64833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&lt;tittle&gt;</a:t>
                      </a:r>
                      <a:endParaRPr lang="id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Unutk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judul</a:t>
                      </a:r>
                      <a:r>
                        <a:rPr lang="en-US" dirty="0"/>
                        <a:t> web</a:t>
                      </a:r>
                      <a:endParaRPr lang="id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33237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&lt;head&gt;</a:t>
                      </a:r>
                      <a:endParaRPr lang="id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Untuk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membuat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bagian</a:t>
                      </a:r>
                      <a:r>
                        <a:rPr lang="en-US" dirty="0"/>
                        <a:t> head</a:t>
                      </a:r>
                      <a:endParaRPr lang="id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93395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&lt;body&gt;</a:t>
                      </a:r>
                      <a:endParaRPr lang="id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Untuk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membuat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bagian</a:t>
                      </a:r>
                      <a:r>
                        <a:rPr lang="en-US" dirty="0"/>
                        <a:t> body</a:t>
                      </a:r>
                      <a:endParaRPr lang="id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68993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&lt;p&gt;</a:t>
                      </a:r>
                      <a:endParaRPr lang="id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Membuat</a:t>
                      </a:r>
                      <a:r>
                        <a:rPr lang="en-US" dirty="0"/>
                        <a:t> paragraph</a:t>
                      </a:r>
                      <a:endParaRPr lang="id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76147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&lt;h1&gt; </a:t>
                      </a:r>
                      <a:r>
                        <a:rPr lang="en-US" dirty="0" err="1"/>
                        <a:t>sampai</a:t>
                      </a:r>
                      <a:r>
                        <a:rPr lang="en-US" dirty="0"/>
                        <a:t> &lt;h6&gt;</a:t>
                      </a:r>
                      <a:endParaRPr lang="id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Membuar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komentar</a:t>
                      </a:r>
                      <a:endParaRPr lang="id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87897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43457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184D55-0BFA-4EDE-BE29-20437511F9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Apa</a:t>
            </a:r>
            <a:r>
              <a:rPr lang="en-US" dirty="0"/>
              <a:t> </a:t>
            </a:r>
            <a:r>
              <a:rPr lang="en-US" dirty="0" err="1"/>
              <a:t>itu</a:t>
            </a:r>
            <a:r>
              <a:rPr lang="en-US" dirty="0"/>
              <a:t> </a:t>
            </a:r>
            <a:r>
              <a:rPr lang="en-US" dirty="0" err="1"/>
              <a:t>elemen</a:t>
            </a:r>
            <a:r>
              <a:rPr lang="en-US" dirty="0"/>
              <a:t> ?</a:t>
            </a:r>
            <a:endParaRPr lang="id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6CB51F-AE3B-4B3D-BECD-73DF579F69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438024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C53C9F-C1F0-4ADB-A8F8-4F0D423AA2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elemen</a:t>
            </a:r>
            <a:endParaRPr lang="id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6021A4-F1DA-4722-9DB6-C82BD7D60A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658143"/>
            <a:ext cx="9905999" cy="3541714"/>
          </a:xfrm>
        </p:spPr>
        <p:txBody>
          <a:bodyPr/>
          <a:lstStyle/>
          <a:p>
            <a:r>
              <a:rPr lang="id-ID" dirty="0"/>
              <a:t>Elemen dalam HTML adalah sebuah komponen yang menyusun dokumen HTML.</a:t>
            </a:r>
            <a:endParaRPr lang="en-US" dirty="0"/>
          </a:p>
          <a:p>
            <a:r>
              <a:rPr lang="id-ID" dirty="0"/>
              <a:t>Elemen dibentuk dari tag pembuka, isi tag, dan tag penutup. Kadang juga ditambahkan beberapa atribut.</a:t>
            </a:r>
            <a:endParaRPr lang="en-US" dirty="0"/>
          </a:p>
          <a:p>
            <a:endParaRPr lang="id-ID" dirty="0"/>
          </a:p>
        </p:txBody>
      </p:sp>
      <p:pic>
        <p:nvPicPr>
          <p:cNvPr id="2050" name="Picture 2" descr="Elemen di HTML">
            <a:extLst>
              <a:ext uri="{FF2B5EF4-FFF2-40B4-BE49-F238E27FC236}">
                <a16:creationId xmlns:a16="http://schemas.microsoft.com/office/drawing/2014/main" id="{BC6C4B1E-72DE-437E-8B9B-8D8C3689A08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197" t="16474" r="11427" b="14974"/>
          <a:stretch/>
        </p:blipFill>
        <p:spPr bwMode="auto">
          <a:xfrm>
            <a:off x="1376638" y="3631277"/>
            <a:ext cx="4717773" cy="22592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775665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76EE40-F194-47BE-9B5A-1EF76FF769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Apa</a:t>
            </a:r>
            <a:r>
              <a:rPr lang="en-US" dirty="0"/>
              <a:t> </a:t>
            </a:r>
            <a:r>
              <a:rPr lang="en-US" dirty="0" err="1"/>
              <a:t>itu</a:t>
            </a:r>
            <a:r>
              <a:rPr lang="en-US" dirty="0"/>
              <a:t> </a:t>
            </a:r>
            <a:r>
              <a:rPr lang="en-US" dirty="0" err="1"/>
              <a:t>artribut</a:t>
            </a:r>
            <a:r>
              <a:rPr lang="en-US" dirty="0"/>
              <a:t> ? </a:t>
            </a:r>
            <a:endParaRPr lang="id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4F4D8F-8572-45AF-85BC-8E41BF0022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7343965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C53C9F-C1F0-4ADB-A8F8-4F0D423AA2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atribut</a:t>
            </a:r>
            <a:endParaRPr lang="id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6021A4-F1DA-4722-9DB6-C82BD7D60A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658143"/>
            <a:ext cx="9905999" cy="3541714"/>
          </a:xfrm>
        </p:spPr>
        <p:txBody>
          <a:bodyPr/>
          <a:lstStyle/>
          <a:p>
            <a:r>
              <a:rPr lang="id-ID" dirty="0"/>
              <a:t>Atribut adalah kata kunci khusus yang berada di dalam tag pembuka. Atribut juga disebut sebagai modifier yang akan menentukan perilaku dari elemen.</a:t>
            </a:r>
            <a:endParaRPr lang="en-US" dirty="0"/>
          </a:p>
          <a:p>
            <a:r>
              <a:rPr lang="id-ID" dirty="0"/>
              <a:t>Atribut dapat ditambahkan pada elemen manapun. Ada juga elemen yang mewajibkan menggunakan atribut seperti elemen &lt;a&gt;, &lt;img&gt;, &lt;video&gt;, dll.</a:t>
            </a:r>
          </a:p>
        </p:txBody>
      </p:sp>
      <p:pic>
        <p:nvPicPr>
          <p:cNvPr id="3074" name="Picture 2" descr="Atribut dalam HTML">
            <a:extLst>
              <a:ext uri="{FF2B5EF4-FFF2-40B4-BE49-F238E27FC236}">
                <a16:creationId xmlns:a16="http://schemas.microsoft.com/office/drawing/2014/main" id="{00A202E6-EFB0-4BB5-AB35-D1CFA3C0ACD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535" t="22757" r="12095" b="29392"/>
          <a:stretch/>
        </p:blipFill>
        <p:spPr bwMode="auto">
          <a:xfrm>
            <a:off x="1391478" y="3723861"/>
            <a:ext cx="4598504" cy="15770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162977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C53C9F-C1F0-4ADB-A8F8-4F0D423AA2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Contoh</a:t>
            </a:r>
            <a:r>
              <a:rPr lang="en-US" dirty="0"/>
              <a:t> </a:t>
            </a:r>
            <a:r>
              <a:rPr lang="en-US" dirty="0" err="1"/>
              <a:t>penggunan</a:t>
            </a:r>
            <a:r>
              <a:rPr lang="en-US" dirty="0"/>
              <a:t> </a:t>
            </a:r>
            <a:r>
              <a:rPr lang="en-US" dirty="0" err="1"/>
              <a:t>atribut</a:t>
            </a:r>
            <a:endParaRPr lang="id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6021A4-F1DA-4722-9DB6-C82BD7D60A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658142"/>
            <a:ext cx="9905999" cy="4581339"/>
          </a:xfrm>
        </p:spPr>
        <p:txBody>
          <a:bodyPr>
            <a:normAutofit/>
          </a:bodyPr>
          <a:lstStyle/>
          <a:p>
            <a:r>
              <a:rPr lang="pt-BR" dirty="0"/>
              <a:t>&lt;a href="https://petanikode.com"&gt;Petani Kode.com&lt;/a&gt;</a:t>
            </a:r>
          </a:p>
          <a:p>
            <a:pPr marL="0" indent="0">
              <a:buNone/>
            </a:pPr>
            <a:r>
              <a:rPr lang="id-ID" dirty="0"/>
              <a:t>Tag &lt;a&gt; adalah tag untuk membuat link. Tag ini mewajibkan menambahkan atribut href untuk menyatakan halaman tujuan dari link.</a:t>
            </a:r>
            <a:endParaRPr lang="en-US" dirty="0"/>
          </a:p>
          <a:p>
            <a:pPr marL="0" indent="0">
              <a:buNone/>
            </a:pPr>
            <a:r>
              <a:rPr lang="id-ID" dirty="0"/>
              <a:t>Jumlah atribut pada elemen bisa lebih dari satu.</a:t>
            </a:r>
            <a:endParaRPr lang="en-US" dirty="0"/>
          </a:p>
          <a:p>
            <a:r>
              <a:rPr lang="id-ID" dirty="0"/>
              <a:t>&lt;img src="gambar.jpg" width="100" height="100" /&gt;</a:t>
            </a:r>
            <a:endParaRPr lang="en-US" dirty="0"/>
          </a:p>
          <a:p>
            <a:pPr marL="0" indent="0">
              <a:buNone/>
            </a:pPr>
            <a:r>
              <a:rPr lang="id-ID" dirty="0"/>
              <a:t>Atribut src adalah atribut khusus untuk tag &lt;img&gt; yang fungsinya untuk menentukan gambar yang akan ditampilkan. Lalu atribut width dan height adalah atribut yang mengatur ukurannya.</a:t>
            </a:r>
          </a:p>
        </p:txBody>
      </p:sp>
    </p:spTree>
    <p:extLst>
      <p:ext uri="{BB962C8B-B14F-4D97-AF65-F5344CB8AC3E}">
        <p14:creationId xmlns:p14="http://schemas.microsoft.com/office/powerpoint/2010/main" val="4960461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C53C9F-C1F0-4ADB-A8F8-4F0D423AA2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Jenis</a:t>
            </a:r>
            <a:r>
              <a:rPr lang="en-US" dirty="0"/>
              <a:t> </a:t>
            </a:r>
            <a:r>
              <a:rPr lang="en-US" dirty="0" err="1"/>
              <a:t>jenis</a:t>
            </a:r>
            <a:r>
              <a:rPr lang="en-US" dirty="0"/>
              <a:t> </a:t>
            </a:r>
            <a:r>
              <a:rPr lang="en-US" dirty="0" err="1"/>
              <a:t>atribut</a:t>
            </a:r>
            <a:endParaRPr lang="id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6021A4-F1DA-4722-9DB6-C82BD7D60A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658143"/>
            <a:ext cx="9905999" cy="3541714"/>
          </a:xfrm>
        </p:spPr>
        <p:txBody>
          <a:bodyPr/>
          <a:lstStyle/>
          <a:p>
            <a:r>
              <a:rPr lang="en-US" dirty="0" err="1"/>
              <a:t>Atribut</a:t>
            </a:r>
            <a:r>
              <a:rPr lang="en-US" dirty="0"/>
              <a:t> global</a:t>
            </a:r>
            <a:r>
              <a:rPr lang="id-ID" dirty="0"/>
              <a:t> </a:t>
            </a:r>
            <a:endParaRPr lang="en-US" dirty="0"/>
          </a:p>
          <a:p>
            <a:r>
              <a:rPr lang="id-ID" dirty="0"/>
              <a:t>Atribut Global adalah atribut yang bisa ditambahkan pada semua elemen HTML.</a:t>
            </a:r>
            <a:endParaRPr lang="en-US" dirty="0"/>
          </a:p>
          <a:p>
            <a:r>
              <a:rPr lang="id-ID" dirty="0"/>
              <a:t>Berikut ini daftar atribut global</a:t>
            </a:r>
            <a:r>
              <a:rPr lang="en-US" dirty="0"/>
              <a:t> yang </a:t>
            </a:r>
            <a:r>
              <a:rPr lang="en-US" dirty="0" err="1"/>
              <a:t>sering</a:t>
            </a:r>
            <a:r>
              <a:rPr lang="en-US" dirty="0"/>
              <a:t> </a:t>
            </a:r>
            <a:r>
              <a:rPr lang="en-US" dirty="0" err="1"/>
              <a:t>digunakan</a:t>
            </a:r>
            <a:r>
              <a:rPr lang="id-ID" dirty="0"/>
              <a:t> dan fungsinya: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id-ID" dirty="0"/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11B0E042-4E62-4EC3-ADFD-782B65B5AE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8678099"/>
              </p:ext>
            </p:extLst>
          </p:nvPr>
        </p:nvGraphicFramePr>
        <p:xfrm>
          <a:off x="1422399" y="3716497"/>
          <a:ext cx="9625012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12506">
                  <a:extLst>
                    <a:ext uri="{9D8B030D-6E8A-4147-A177-3AD203B41FA5}">
                      <a16:colId xmlns:a16="http://schemas.microsoft.com/office/drawing/2014/main" val="1920037322"/>
                    </a:ext>
                  </a:extLst>
                </a:gridCol>
                <a:gridCol w="4812506">
                  <a:extLst>
                    <a:ext uri="{9D8B030D-6E8A-4147-A177-3AD203B41FA5}">
                      <a16:colId xmlns:a16="http://schemas.microsoft.com/office/drawing/2014/main" val="99016357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Atribut</a:t>
                      </a:r>
                      <a:endParaRPr lang="id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Deskripsi</a:t>
                      </a:r>
                      <a:endParaRPr lang="id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87682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d-ID" dirty="0"/>
                        <a:t>class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d-ID" dirty="0"/>
                        <a:t>Menentukan class CSS yang akan digunakan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74072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id</a:t>
                      </a:r>
                      <a:endParaRPr lang="id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d-ID" dirty="0"/>
                        <a:t>Menentukan id unik untuk elemen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40978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style</a:t>
                      </a:r>
                      <a:endParaRPr lang="id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d-ID" dirty="0"/>
                        <a:t>Menentukan inline CSS untuk elemen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81924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title</a:t>
                      </a:r>
                      <a:endParaRPr lang="id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d-ID" dirty="0"/>
                        <a:t>Menentukan informasi tambahan tentang elemen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27527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567065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C53C9F-C1F0-4ADB-A8F8-4F0D423AA2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Jenis</a:t>
            </a:r>
            <a:r>
              <a:rPr lang="en-US" dirty="0"/>
              <a:t> </a:t>
            </a:r>
            <a:r>
              <a:rPr lang="en-US" dirty="0" err="1"/>
              <a:t>jenis</a:t>
            </a:r>
            <a:r>
              <a:rPr lang="en-US" dirty="0"/>
              <a:t> </a:t>
            </a:r>
            <a:r>
              <a:rPr lang="en-US" dirty="0" err="1"/>
              <a:t>atribut</a:t>
            </a:r>
            <a:endParaRPr lang="id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6021A4-F1DA-4722-9DB6-C82BD7D60A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658143"/>
            <a:ext cx="9905999" cy="3541714"/>
          </a:xfrm>
        </p:spPr>
        <p:txBody>
          <a:bodyPr/>
          <a:lstStyle/>
          <a:p>
            <a:r>
              <a:rPr lang="en-US" dirty="0" err="1"/>
              <a:t>Atribut</a:t>
            </a:r>
            <a:r>
              <a:rPr lang="en-US" dirty="0"/>
              <a:t> </a:t>
            </a:r>
            <a:r>
              <a:rPr lang="en-US" dirty="0" err="1"/>
              <a:t>khusus</a:t>
            </a:r>
            <a:r>
              <a:rPr lang="id-ID" dirty="0"/>
              <a:t> </a:t>
            </a:r>
            <a:endParaRPr lang="en-US" dirty="0"/>
          </a:p>
          <a:p>
            <a:r>
              <a:rPr lang="id-ID" dirty="0"/>
              <a:t>Atribut khusus adalah atribut yang hanya bisa dipakai pada elemen tertentu dan kadang atribut ini tidak bisa digunakan pada elemen yang lain.</a:t>
            </a:r>
            <a:endParaRPr lang="en-US" dirty="0"/>
          </a:p>
          <a:p>
            <a:r>
              <a:rPr lang="id-ID" dirty="0"/>
              <a:t>Berikut ini daftar atribut </a:t>
            </a:r>
            <a:r>
              <a:rPr lang="en-US" dirty="0" err="1"/>
              <a:t>khusus</a:t>
            </a:r>
            <a:r>
              <a:rPr lang="en-US" dirty="0"/>
              <a:t> yang </a:t>
            </a:r>
            <a:r>
              <a:rPr lang="en-US" dirty="0" err="1"/>
              <a:t>sering</a:t>
            </a:r>
            <a:r>
              <a:rPr lang="en-US" dirty="0"/>
              <a:t> </a:t>
            </a:r>
            <a:r>
              <a:rPr lang="en-US" dirty="0" err="1"/>
              <a:t>digunakan</a:t>
            </a:r>
            <a:r>
              <a:rPr lang="id-ID" dirty="0"/>
              <a:t> dan fungsinya: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id-ID" dirty="0"/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11B0E042-4E62-4EC3-ADFD-782B65B5AE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9935596"/>
              </p:ext>
            </p:extLst>
          </p:nvPr>
        </p:nvGraphicFramePr>
        <p:xfrm>
          <a:off x="477079" y="3716497"/>
          <a:ext cx="11039060" cy="266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3182">
                  <a:extLst>
                    <a:ext uri="{9D8B030D-6E8A-4147-A177-3AD203B41FA5}">
                      <a16:colId xmlns:a16="http://schemas.microsoft.com/office/drawing/2014/main" val="1920037322"/>
                    </a:ext>
                  </a:extLst>
                </a:gridCol>
                <a:gridCol w="3193774">
                  <a:extLst>
                    <a:ext uri="{9D8B030D-6E8A-4147-A177-3AD203B41FA5}">
                      <a16:colId xmlns:a16="http://schemas.microsoft.com/office/drawing/2014/main" val="32984600"/>
                    </a:ext>
                  </a:extLst>
                </a:gridCol>
                <a:gridCol w="6732104">
                  <a:extLst>
                    <a:ext uri="{9D8B030D-6E8A-4147-A177-3AD203B41FA5}">
                      <a16:colId xmlns:a16="http://schemas.microsoft.com/office/drawing/2014/main" val="99016357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Atribut</a:t>
                      </a:r>
                      <a:endParaRPr lang="id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d-ID" dirty="0"/>
                        <a:t>Bisa dipakai di tag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Deskripsi</a:t>
                      </a:r>
                      <a:endParaRPr lang="id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87682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src</a:t>
                      </a:r>
                      <a:endParaRPr lang="id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&lt;audio&gt;, &lt;embed&gt;, &lt;iframe&gt;, &lt;</a:t>
                      </a:r>
                      <a:r>
                        <a:rPr lang="en-US" dirty="0" err="1"/>
                        <a:t>img</a:t>
                      </a:r>
                      <a:r>
                        <a:rPr lang="en-US" dirty="0"/>
                        <a:t>&gt;, </a:t>
                      </a:r>
                      <a:r>
                        <a:rPr lang="en-US" dirty="0" err="1"/>
                        <a:t>dll</a:t>
                      </a:r>
                      <a:endParaRPr lang="id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menentukan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sumber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atau</a:t>
                      </a:r>
                      <a:r>
                        <a:rPr lang="en-US" dirty="0"/>
                        <a:t> URL </a:t>
                      </a:r>
                      <a:r>
                        <a:rPr lang="en-US" dirty="0" err="1"/>
                        <a:t>dari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gambar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atau</a:t>
                      </a:r>
                      <a:r>
                        <a:rPr lang="en-US" dirty="0"/>
                        <a:t> file yang </a:t>
                      </a:r>
                      <a:r>
                        <a:rPr lang="en-US" dirty="0" err="1"/>
                        <a:t>digunakan</a:t>
                      </a:r>
                      <a:r>
                        <a:rPr lang="en-US" dirty="0"/>
                        <a:t> </a:t>
                      </a:r>
                      <a:endParaRPr lang="id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74072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herf</a:t>
                      </a:r>
                      <a:endParaRPr lang="id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d-ID" dirty="0"/>
                        <a:t>&lt;a&gt;, &lt;link&gt;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d-ID" dirty="0"/>
                        <a:t>membuat hyperlink, atau tautan, dalam sebuah situs web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40978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action</a:t>
                      </a:r>
                      <a:endParaRPr lang="id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d-ID" dirty="0"/>
                        <a:t>&lt;form&gt;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d-ID" dirty="0"/>
                        <a:t>menentukan URL atau skrip server yang akan memproses data dari formulir saat formulir disubmit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81924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autoplay</a:t>
                      </a:r>
                      <a:endParaRPr lang="id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d-ID" dirty="0"/>
                        <a:t>&lt;audio&gt;, &lt;video&gt;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untuk menentukan bahwa audio atau video akan mulai diputar secara otomatis segera setelah dimuat</a:t>
                      </a:r>
                      <a:endParaRPr lang="id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27527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773474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1E34C9-66D2-40AE-9D34-BFDC8FD47D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Tips &amp; </a:t>
            </a:r>
            <a:r>
              <a:rPr lang="en-US" dirty="0" err="1"/>
              <a:t>Trik</a:t>
            </a:r>
            <a:endParaRPr lang="id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6EF637-399C-4F80-A1DC-DB560F891F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Gunakan</a:t>
            </a:r>
            <a:r>
              <a:rPr lang="en-US" dirty="0"/>
              <a:t> </a:t>
            </a:r>
            <a:r>
              <a:rPr lang="en-US" dirty="0" err="1"/>
              <a:t>huruf</a:t>
            </a:r>
            <a:r>
              <a:rPr lang="en-US" dirty="0"/>
              <a:t> </a:t>
            </a:r>
            <a:r>
              <a:rPr lang="en-US" dirty="0" err="1"/>
              <a:t>kecil</a:t>
            </a:r>
            <a:r>
              <a:rPr lang="en-US" dirty="0"/>
              <a:t> Ketika </a:t>
            </a:r>
            <a:r>
              <a:rPr lang="en-US" dirty="0" err="1"/>
              <a:t>penulisan</a:t>
            </a:r>
            <a:r>
              <a:rPr lang="en-US" dirty="0"/>
              <a:t> tag, </a:t>
            </a:r>
            <a:r>
              <a:rPr lang="en-US" dirty="0" err="1"/>
              <a:t>elemen</a:t>
            </a:r>
            <a:r>
              <a:rPr lang="en-US" dirty="0"/>
              <a:t>, dan </a:t>
            </a:r>
            <a:r>
              <a:rPr lang="en-US" dirty="0" err="1"/>
              <a:t>atribut</a:t>
            </a:r>
            <a:endParaRPr lang="en-US" dirty="0"/>
          </a:p>
          <a:p>
            <a:r>
              <a:rPr lang="en-US" dirty="0"/>
              <a:t>Tag </a:t>
            </a:r>
            <a:r>
              <a:rPr lang="en-US" dirty="0" err="1"/>
              <a:t>pertama</a:t>
            </a:r>
            <a:r>
              <a:rPr lang="en-US" dirty="0"/>
              <a:t> </a:t>
            </a:r>
            <a:r>
              <a:rPr lang="en-US" dirty="0" err="1"/>
              <a:t>harus</a:t>
            </a:r>
            <a:r>
              <a:rPr lang="en-US" dirty="0"/>
              <a:t> </a:t>
            </a:r>
            <a:r>
              <a:rPr lang="en-US" dirty="0" err="1"/>
              <a:t>ditutup</a:t>
            </a:r>
            <a:r>
              <a:rPr lang="en-US" dirty="0"/>
              <a:t> paling </a:t>
            </a:r>
            <a:r>
              <a:rPr lang="en-US" dirty="0" err="1"/>
              <a:t>akhir</a:t>
            </a:r>
            <a:endParaRPr lang="en-US" dirty="0"/>
          </a:p>
          <a:p>
            <a:r>
              <a:rPr lang="en-US" dirty="0" err="1"/>
              <a:t>jika</a:t>
            </a:r>
            <a:r>
              <a:rPr lang="en-US" dirty="0"/>
              <a:t> </a:t>
            </a:r>
            <a:r>
              <a:rPr lang="en-US" dirty="0" err="1"/>
              <a:t>penulisan</a:t>
            </a:r>
            <a:r>
              <a:rPr lang="en-US" dirty="0"/>
              <a:t> tag </a:t>
            </a:r>
            <a:r>
              <a:rPr lang="en-US" dirty="0" err="1"/>
              <a:t>langsung</a:t>
            </a:r>
            <a:r>
              <a:rPr lang="en-US" dirty="0"/>
              <a:t> </a:t>
            </a:r>
            <a:r>
              <a:rPr lang="en-US" dirty="0" err="1"/>
              <a:t>saja</a:t>
            </a:r>
            <a:r>
              <a:rPr lang="en-US" dirty="0"/>
              <a:t> </a:t>
            </a:r>
            <a:r>
              <a:rPr lang="en-US" dirty="0" err="1"/>
              <a:t>ditutup</a:t>
            </a:r>
            <a:r>
              <a:rPr lang="en-US" dirty="0"/>
              <a:t> </a:t>
            </a:r>
            <a:r>
              <a:rPr lang="en-US" dirty="0" err="1"/>
              <a:t>kemudian</a:t>
            </a:r>
            <a:r>
              <a:rPr lang="en-US" dirty="0"/>
              <a:t> Kembali </a:t>
            </a:r>
            <a:r>
              <a:rPr lang="en-US" dirty="0" err="1"/>
              <a:t>ke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isi</a:t>
            </a:r>
            <a:r>
              <a:rPr lang="en-US" dirty="0"/>
              <a:t> tag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menulis</a:t>
            </a:r>
            <a:r>
              <a:rPr lang="en-US" dirty="0"/>
              <a:t> tag lain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elemen</a:t>
            </a:r>
            <a:r>
              <a:rPr lang="en-US" dirty="0"/>
              <a:t> lain </a:t>
            </a:r>
            <a:r>
              <a:rPr lang="en-US" dirty="0" err="1"/>
              <a:t>sehingga</a:t>
            </a:r>
            <a:r>
              <a:rPr lang="en-US" dirty="0"/>
              <a:t> </a:t>
            </a:r>
            <a:r>
              <a:rPr lang="en-US" dirty="0" err="1"/>
              <a:t>kita</a:t>
            </a:r>
            <a:r>
              <a:rPr lang="en-US" dirty="0"/>
              <a:t>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perlu</a:t>
            </a:r>
            <a:r>
              <a:rPr lang="en-US" dirty="0"/>
              <a:t> </a:t>
            </a:r>
            <a:r>
              <a:rPr lang="en-US" dirty="0" err="1"/>
              <a:t>mencari</a:t>
            </a:r>
            <a:r>
              <a:rPr lang="en-US" dirty="0"/>
              <a:t> </a:t>
            </a:r>
            <a:r>
              <a:rPr lang="en-US" dirty="0" err="1"/>
              <a:t>lagi</a:t>
            </a:r>
            <a:r>
              <a:rPr lang="en-US" dirty="0"/>
              <a:t> tag yang </a:t>
            </a:r>
            <a:r>
              <a:rPr lang="en-US" dirty="0" err="1"/>
              <a:t>belum</a:t>
            </a:r>
            <a:r>
              <a:rPr lang="en-US" dirty="0"/>
              <a:t> </a:t>
            </a:r>
            <a:r>
              <a:rPr lang="en-US" dirty="0" err="1"/>
              <a:t>tertutup</a:t>
            </a: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192528932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Circuit</Template>
  <TotalTime>43</TotalTime>
  <Words>544</Words>
  <Application>Microsoft Office PowerPoint</Application>
  <PresentationFormat>Widescreen</PresentationFormat>
  <Paragraphs>74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Tw Cen MT</vt:lpstr>
      <vt:lpstr>Circuit</vt:lpstr>
      <vt:lpstr>HTML 2</vt:lpstr>
      <vt:lpstr>Apa itu tag ?</vt:lpstr>
      <vt:lpstr>tag</vt:lpstr>
      <vt:lpstr>Tag – TAG dasar dan wajib di html</vt:lpstr>
      <vt:lpstr>Apa itu elemen ?</vt:lpstr>
      <vt:lpstr>elemen</vt:lpstr>
      <vt:lpstr>Apa itu artribut ? </vt:lpstr>
      <vt:lpstr>atribut</vt:lpstr>
      <vt:lpstr>Contoh penggunan atribut</vt:lpstr>
      <vt:lpstr>Jenis jenis atribut</vt:lpstr>
      <vt:lpstr>Jenis jenis atribut</vt:lpstr>
      <vt:lpstr>Tips &amp; Trik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HTML 2</dc:title>
  <dc:creator>Fauzan Hendro</dc:creator>
  <cp:lastModifiedBy>Fauzan Hendro</cp:lastModifiedBy>
  <cp:revision>1</cp:revision>
  <dcterms:created xsi:type="dcterms:W3CDTF">2024-07-17T13:48:20Z</dcterms:created>
  <dcterms:modified xsi:type="dcterms:W3CDTF">2024-07-17T14:31:57Z</dcterms:modified>
</cp:coreProperties>
</file>